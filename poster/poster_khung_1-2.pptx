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6000000" cy="270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Số em</c:v>
                </c:pt>
              </c:strCache>
            </c:strRef>
          </c:tx>
          <c:dPt>
            <c:idx val="0"/>
            <c:spPr>
              <a:solidFill>
                <a:srgbClr val="27805A"/>
              </a:solidFill>
            </c:spPr>
          </c:dPt>
          <c:dPt>
            <c:idx val="1"/>
            <c:spPr>
              <a:solidFill>
                <a:srgbClr val="B9BEC3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231" b="1">
                        <a:solidFill>
                          <a:srgbClr val="1C2321"/>
                        </a:solidFill>
                      </a:rPr>
                      <a:t>0 / 1 400 em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31" b="1">
                        <a:solidFill>
                          <a:srgbClr val="1C2321"/>
                        </a:solidFill>
                      </a:rPr>
                      <a:t>258 / 1 400 em (18,43%)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Phần mềm (RB-DA)</c:v>
                </c:pt>
                <c:pt idx="1">
                  <c:v>Cơ chế Boston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</c:v>
                </c:pt>
                <c:pt idx="1">
                  <c:v>258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5B6570"/>
            </a:solidFill>
          </a:ln>
        </c:spPr>
        <c:txPr>
          <a:bodyPr/>
          <a:lstStyle/>
          <a:p>
            <a:pPr>
              <a:defRPr b="1" sz="1159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00.0"/>
          <c:min val="0.0"/>
        </c:scaling>
        <c:delete val="0"/>
        <c:axPos val="b"/>
        <c:majorGridlines>
          <c:spPr>
            <a:ln>
              <a:solidFill>
                <a:srgbClr val="DBDCD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A929A"/>
                </a:solidFill>
              </a:defRPr>
            </a:pPr>
          </a:p>
        </c:txPr>
        <c:crossAx val="-2068027336"/>
        <c:crosses val="autoZero"/>
        <c:majorUnit val="100.0"/>
      </c:valAx>
    </c:plotArea>
    <c:dispBlanksAs val="gap"/>
  </c:chart>
  <c:txPr>
    <a:bodyPr/>
    <a:lstStyle/>
    <a:p>
      <a:pPr>
        <a:defRPr sz="941">
          <a:solidFill>
            <a:srgbClr val="1C2321"/>
          </a:solidFill>
          <a:latin typeface="IBM Plex Sans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Số em</c:v>
                </c:pt>
              </c:strCache>
            </c:strRef>
          </c:tx>
          <c:dPt>
            <c:idx val="0"/>
            <c:spPr>
              <a:solidFill>
                <a:srgbClr val="27805A"/>
              </a:solidFill>
            </c:spPr>
          </c:dPt>
          <c:dPt>
            <c:idx val="1"/>
            <c:spPr>
              <a:solidFill>
                <a:srgbClr val="7FAE95"/>
              </a:solidFill>
            </c:spPr>
          </c:dPt>
          <c:dPt>
            <c:idx val="2"/>
            <c:spPr>
              <a:solidFill>
                <a:srgbClr val="7FAE95"/>
              </a:solidFill>
            </c:spPr>
          </c:dPt>
          <c:dPt>
            <c:idx val="3"/>
            <c:spPr>
              <a:solidFill>
                <a:srgbClr val="7FAE95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231" b="1">
                        <a:solidFill>
                          <a:srgbClr val="1C2321"/>
                        </a:solidFill>
                      </a:rPr>
                      <a:t>64 em · 59%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231" b="1">
                        <a:solidFill>
                          <a:srgbClr val="1C2321"/>
                        </a:solidFill>
                      </a:rPr>
                      <a:t>28 em · 26%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231" b="1">
                        <a:solidFill>
                          <a:srgbClr val="1C2321"/>
                        </a:solidFill>
                      </a:rPr>
                      <a:t>10 em · 9%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231" b="1">
                        <a:solidFill>
                          <a:srgbClr val="1C2321"/>
                        </a:solidFill>
                      </a:rPr>
                      <a:t>6 em · 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NV 1</c:v>
                </c:pt>
                <c:pt idx="1">
                  <c:v>NV 2</c:v>
                </c:pt>
                <c:pt idx="2">
                  <c:v>NV 3</c:v>
                </c:pt>
                <c:pt idx="3">
                  <c:v>NV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64</c:v>
                </c:pt>
                <c:pt idx="1">
                  <c:v>28</c:v>
                </c:pt>
                <c:pt idx="2">
                  <c:v>10</c:v>
                </c:pt>
                <c:pt idx="3">
                  <c:v>6</c:v>
                </c:pt>
              </c:numCache>
            </c:numRef>
          </c:val>
        </c:ser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5B6570"/>
            </a:solidFill>
          </a:ln>
        </c:spPr>
        <c:txPr>
          <a:bodyPr/>
          <a:lstStyle/>
          <a:p>
            <a:pPr>
              <a:defRPr b="1" sz="1159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.0"/>
          <c:min val="0.0"/>
        </c:scaling>
        <c:delete val="0"/>
        <c:axPos val="l"/>
        <c:majorGridlines>
          <c:spPr>
            <a:ln>
              <a:solidFill>
                <a:srgbClr val="DBDCD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>
                <a:solidFill>
                  <a:srgbClr val="8A929A"/>
                </a:solidFill>
              </a:defRPr>
            </a:pPr>
          </a:p>
        </c:txPr>
        <c:crossAx val="-2068027336"/>
        <c:crosses val="autoZero"/>
        <c:majorUnit val="20.0"/>
      </c:valAx>
    </c:plotArea>
    <c:dispBlanksAs val="gap"/>
  </c:chart>
  <c:txPr>
    <a:bodyPr/>
    <a:lstStyle/>
    <a:p>
      <a:pPr>
        <a:defRPr sz="941">
          <a:solidFill>
            <a:srgbClr val="1C2321"/>
          </a:solidFill>
          <a:latin typeface="IBM Plex Sans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Tỉ lệ 1:2 — slide 100 x 75 cm, in phóng 200% ra 200 x 150 cm.</a:t>
            </a:r>
          </a:p>
          <a:p>
            <a:r>
              <a:t>Nếp gấp ở 25 cm và 75 cm trên slide (50 cm và 150 cm khi in).</a:t>
            </a:r>
          </a:p>
          <a:p>
            <a:r>
              <a:t>Mã ô (H1, T1, G1, S1, P1…) khớp bảng tra poster/DU_LIEU_POSTER.md.</a:t>
            </a:r>
          </a:p>
          <a:p>
            <a:r>
              <a:t>Không đặt: Logo nhà trường, Tên trường (kể cả viết tắt), Mã dự án, Tên giáo viên hướng dẫn, Tên học sinh tham gia.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000000" cy="27000000"/>
          </a:xfrm>
          <a:prstGeom prst="rect">
            <a:avLst/>
          </a:prstGeom>
          <a:solidFill>
            <a:srgbClr val="F3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000000" cy="216000"/>
          </a:xfrm>
          <a:prstGeom prst="rect">
            <a:avLst/>
          </a:prstGeom>
          <a:solidFill>
            <a:srgbClr val="3F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00000" y="0"/>
            <a:ext cx="18000000" cy="216000"/>
          </a:xfrm>
          <a:prstGeom prst="rect">
            <a:avLst/>
          </a:prstGeom>
          <a:solidFill>
            <a:srgbClr val="C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000000" y="0"/>
            <a:ext cx="9000000" cy="216000"/>
          </a:xfrm>
          <a:prstGeom prst="rect">
            <a:avLst/>
          </a:prstGeom>
          <a:solidFill>
            <a:srgbClr val="3F6B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0000" y="540000"/>
            <a:ext cx="8010000" cy="7920000"/>
          </a:xfrm>
          <a:prstGeom prst="roundRect">
            <a:avLst>
              <a:gd name="adj" fmla="val 1363"/>
            </a:avLst>
          </a:prstGeom>
          <a:solidFill>
            <a:srgbClr val="FFFFFF"/>
          </a:solidFill>
          <a:ln w="14400">
            <a:solidFill>
              <a:srgbClr val="DB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4000" y="827999"/>
            <a:ext cx="522000" cy="522000"/>
          </a:xfrm>
          <a:prstGeom prst="ellipse">
            <a:avLst/>
          </a:prstGeom>
          <a:solidFill>
            <a:srgbClr val="C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60" b="1" i="0">
                <a:solidFill>
                  <a:srgbClr val="FFFFFF"/>
                </a:solidFill>
                <a:latin typeface="Be Vietnam Pr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30000" y="827999"/>
            <a:ext cx="6695999" cy="52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2321"/>
                </a:solidFill>
                <a:latin typeface="Be Vietnam Pro"/>
              </a:rPr>
              <a:t>Vấn đề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4000" y="1530000"/>
            <a:ext cx="7362000" cy="6606000"/>
          </a:xfrm>
          <a:prstGeom prst="roundRect">
            <a:avLst>
              <a:gd name="adj" fmla="val 1634"/>
            </a:avLst>
          </a:prstGeom>
          <a:noFill/>
          <a:ln w="18000">
            <a:solidFill>
              <a:srgbClr val="DBDC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4000" y="1674000"/>
            <a:ext cx="7002000" cy="631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5B6570"/>
                </a:solidFill>
                <a:latin typeface="IBM Plex Sans"/>
              </a:rPr>
              <a:t>[ T1 — em viết 2–3 câu. Hiện nay xếp học sinh vào CLB thế nào? Ai thiệt, thiệt ra sao? 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000" y="8910000"/>
            <a:ext cx="8010000" cy="972000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4400">
            <a:solidFill>
              <a:srgbClr val="DB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4000" y="9198000"/>
            <a:ext cx="522000" cy="522000"/>
          </a:xfrm>
          <a:prstGeom prst="ellipse">
            <a:avLst/>
          </a:prstGeom>
          <a:solidFill>
            <a:srgbClr val="C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60" b="1" i="0">
                <a:solidFill>
                  <a:srgbClr val="FFFFFF"/>
                </a:solidFill>
                <a:latin typeface="Be Vietnam Pro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0000" y="9198000"/>
            <a:ext cx="6695999" cy="52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2321"/>
                </a:solidFill>
                <a:latin typeface="Be Vietnam Pro"/>
              </a:rPr>
              <a:t>Dùng thế nào</a:t>
            </a:r>
          </a:p>
        </p:txBody>
      </p:sp>
      <p:pic>
        <p:nvPicPr>
          <p:cNvPr id="14" name="Picture 13" descr="giao_dien_van_han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000" y="9900000"/>
            <a:ext cx="7362000" cy="460125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4000" y="14573250"/>
            <a:ext cx="7362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570"/>
                </a:solidFill>
                <a:latin typeface="IBM Plex Sans"/>
              </a:rPr>
              <a:t>Ảnh chụp giao diện thật · dữ liệu mô phỏng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000" y="14933250"/>
            <a:ext cx="7362000" cy="3372750"/>
          </a:xfrm>
          <a:prstGeom prst="roundRect">
            <a:avLst>
              <a:gd name="adj" fmla="val 3202"/>
            </a:avLst>
          </a:prstGeom>
          <a:noFill/>
          <a:ln w="18000">
            <a:solidFill>
              <a:srgbClr val="DBDC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4000" y="15077250"/>
            <a:ext cx="7002000" cy="308475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5B6570"/>
                </a:solidFill>
                <a:latin typeface="IBM Plex Sans"/>
              </a:rPr>
              <a:t>[ T2 — em viết: người dùng làm mấy bước? Mỗi bước một dòng. 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0000" y="19080000"/>
            <a:ext cx="8010000" cy="7200000"/>
          </a:xfrm>
          <a:prstGeom prst="roundRect">
            <a:avLst>
              <a:gd name="adj" fmla="val 1500"/>
            </a:avLst>
          </a:prstGeom>
          <a:solidFill>
            <a:srgbClr val="FFFFFF"/>
          </a:solidFill>
          <a:ln w="14400">
            <a:solidFill>
              <a:srgbClr val="DB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4000" y="19368000"/>
            <a:ext cx="522000" cy="522000"/>
          </a:xfrm>
          <a:prstGeom prst="ellipse">
            <a:avLst/>
          </a:prstGeom>
          <a:solidFill>
            <a:srgbClr val="C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60" b="1" i="0">
                <a:solidFill>
                  <a:srgbClr val="FFFFFF"/>
                </a:solidFill>
                <a:latin typeface="Be Vietnam Pro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30000" y="19368000"/>
            <a:ext cx="6695999" cy="52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2321"/>
                </a:solidFill>
                <a:latin typeface="Be Vietnam Pro"/>
              </a:rPr>
              <a:t>Xem thử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4000" y="20070000"/>
            <a:ext cx="3600000" cy="3600000"/>
          </a:xfrm>
          <a:prstGeom prst="roundRect">
            <a:avLst>
              <a:gd name="adj" fmla="val 3000"/>
            </a:avLst>
          </a:prstGeom>
          <a:solidFill>
            <a:srgbClr val="F3F4F1"/>
          </a:solidFill>
          <a:ln w="25200">
            <a:solidFill>
              <a:srgbClr val="5B65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200" b="0" i="0">
                <a:solidFill>
                  <a:srgbClr val="5B6570"/>
                </a:solidFill>
                <a:latin typeface="IBM Plex Sans"/>
              </a:rPr>
              <a:t>[ QR tới video demo — KHÔNG trỏ tới GitHub 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34000" y="20070000"/>
            <a:ext cx="3491999" cy="3600000"/>
          </a:xfrm>
          <a:prstGeom prst="roundRect">
            <a:avLst>
              <a:gd name="adj" fmla="val 3092"/>
            </a:avLst>
          </a:prstGeom>
          <a:noFill/>
          <a:ln w="18000">
            <a:solidFill>
              <a:srgbClr val="DBDC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14000" y="20214000"/>
            <a:ext cx="3131999" cy="33119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5B6570"/>
                </a:solidFill>
                <a:latin typeface="IBM Plex Sans"/>
              </a:rPr>
              <a:t>[ T3 — em viết 1 câu mời xem demo / dùng thử tại gian ]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50000" y="540000"/>
            <a:ext cx="17100000" cy="4860000"/>
          </a:xfrm>
          <a:prstGeom prst="roundRect">
            <a:avLst>
              <a:gd name="adj" fmla="val 2222"/>
            </a:avLst>
          </a:prstGeom>
          <a:solidFill>
            <a:srgbClr val="1C23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90000" y="936000"/>
            <a:ext cx="16020000" cy="406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C98A1F"/>
                </a:solidFill>
                <a:latin typeface="IBM Plex Sans"/>
              </a:rPr>
              <a:t>[ H1 — LĨNH VỰC DỰ THI ]</a:t>
            </a:r>
          </a:p>
          <a:p>
            <a:pPr algn="l"/>
            <a:r>
              <a:rPr sz="7000" b="1" i="0">
                <a:solidFill>
                  <a:srgbClr val="F3F4F1"/>
                </a:solidFill>
                <a:latin typeface="Be Vietnam Pro"/>
              </a:rPr>
              <a:t>[ H2 — THÔNG ĐIỆP CHÍNH, MỘT CÂU, TỐI ĐA HAI DÒNG ]</a:t>
            </a:r>
          </a:p>
          <a:p>
            <a:pPr algn="l"/>
            <a:r>
              <a:rPr sz="2400" b="0" i="0">
                <a:solidFill>
                  <a:srgbClr val="DBDCD5"/>
                </a:solidFill>
                <a:latin typeface="IBM Plex Sans"/>
              </a:rPr>
              <a:t>[ H3 — tên đề tài đầy đủ 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450000" y="5850000"/>
            <a:ext cx="10980000" cy="10260000"/>
          </a:xfrm>
          <a:prstGeom prst="roundRect">
            <a:avLst>
              <a:gd name="adj" fmla="val 1052"/>
            </a:avLst>
          </a:prstGeom>
          <a:solidFill>
            <a:srgbClr val="FFFFFF"/>
          </a:solidFill>
          <a:ln w="14400">
            <a:solidFill>
              <a:srgbClr val="DB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giao_dien_ket_qu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4000" y="6173999"/>
            <a:ext cx="10332000" cy="64575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9774000" y="12703500"/>
            <a:ext cx="10332000" cy="28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B6570"/>
                </a:solidFill>
                <a:latin typeface="IBM Plex Sans"/>
              </a:rPr>
              <a:t>Ảnh chụp giao diện thật · tab Kết quả · dữ liệu mô phỏng (120 học sinh, 10 CLB)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74000" y="13063500"/>
            <a:ext cx="10332000" cy="2722500"/>
          </a:xfrm>
          <a:prstGeom prst="roundRect">
            <a:avLst>
              <a:gd name="adj" fmla="val 3966"/>
            </a:avLst>
          </a:prstGeom>
          <a:noFill/>
          <a:ln w="18000">
            <a:solidFill>
              <a:srgbClr val="DBDC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54000" y="13207500"/>
            <a:ext cx="9972000" cy="2434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5B6570"/>
                </a:solidFill>
                <a:latin typeface="IBM Plex Sans"/>
              </a:rPr>
              <a:t>[ G1 — em viết 1–2 câu: ảnh này cho thấy phần mềm làm được gì? 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0880000" y="5850000"/>
            <a:ext cx="5670000" cy="318000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4400">
            <a:solidFill>
              <a:srgbClr val="DB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0880000" y="5850000"/>
            <a:ext cx="108000" cy="3180000"/>
          </a:xfrm>
          <a:prstGeom prst="rect">
            <a:avLst/>
          </a:prstGeom>
          <a:solidFill>
            <a:srgbClr val="27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168000" y="6066000"/>
            <a:ext cx="5166000" cy="27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0" b="1" i="0">
                <a:solidFill>
                  <a:srgbClr val="27805A"/>
                </a:solidFill>
                <a:latin typeface="Be Vietnam Pro"/>
              </a:rPr>
              <a:t>0</a:t>
            </a:r>
          </a:p>
          <a:p>
            <a:pPr algn="l"/>
            <a:r>
              <a:rPr sz="1200" b="1" i="0">
                <a:solidFill>
                  <a:srgbClr val="1C2321"/>
                </a:solidFill>
                <a:latin typeface="IBM Plex Sans"/>
              </a:rPr>
              <a:t>cặp phá vỡ · mọi lần bốc thăm, mọi bộ dữ liệu mô phỏng</a:t>
            </a:r>
          </a:p>
          <a:p>
            <a:pPr algn="l"/>
            <a:r>
              <a:rPr sz="1200" b="0" i="1">
                <a:solidFill>
                  <a:srgbClr val="5B6570"/>
                </a:solidFill>
                <a:latin typeface="IBM Plex Sans"/>
              </a:rPr>
              <a:t>[ S1 — em viết 1 dòng: con số này nghĩa là gì? 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0880000" y="9390000"/>
            <a:ext cx="5670000" cy="318000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4400">
            <a:solidFill>
              <a:srgbClr val="DB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0880000" y="9390000"/>
            <a:ext cx="108000" cy="3180000"/>
          </a:xfrm>
          <a:prstGeom prst="rect">
            <a:avLst/>
          </a:prstGeom>
          <a:solidFill>
            <a:srgbClr val="27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168000" y="9606000"/>
            <a:ext cx="5166000" cy="27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0" b="1" i="0">
                <a:solidFill>
                  <a:srgbClr val="27805A"/>
                </a:solidFill>
                <a:latin typeface="Be Vietnam Pro"/>
              </a:rPr>
              <a:t>0,14 giây</a:t>
            </a:r>
          </a:p>
          <a:p>
            <a:pPr algn="l"/>
            <a:r>
              <a:rPr sz="1200" b="1" i="0">
                <a:solidFill>
                  <a:srgbClr val="1C2321"/>
                </a:solidFill>
                <a:latin typeface="IBM Plex Sans"/>
              </a:rPr>
              <a:t>xếp 2 000 học sinh · 40 CLB · dữ liệu mô phỏng</a:t>
            </a:r>
          </a:p>
          <a:p>
            <a:pPr algn="l"/>
            <a:r>
              <a:rPr sz="1200" b="0" i="1">
                <a:solidFill>
                  <a:srgbClr val="5B6570"/>
                </a:solidFill>
                <a:latin typeface="IBM Plex Sans"/>
              </a:rPr>
              <a:t>[ S2 — em viết 1 dòng: con số này nghĩa là gì? ]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0880000" y="12930000"/>
            <a:ext cx="5670000" cy="3180000"/>
          </a:xfrm>
          <a:prstGeom prst="roundRect">
            <a:avLst>
              <a:gd name="adj" fmla="val 3396"/>
            </a:avLst>
          </a:prstGeom>
          <a:solidFill>
            <a:srgbClr val="FFFFFF"/>
          </a:solidFill>
          <a:ln w="14400">
            <a:solidFill>
              <a:srgbClr val="DB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0880000" y="12930000"/>
            <a:ext cx="108000" cy="3180000"/>
          </a:xfrm>
          <a:prstGeom prst="rect">
            <a:avLst/>
          </a:prstGeom>
          <a:solidFill>
            <a:srgbClr val="27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168000" y="13146000"/>
            <a:ext cx="5166000" cy="274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500" b="1" i="0">
                <a:solidFill>
                  <a:srgbClr val="27805A"/>
                </a:solidFill>
                <a:latin typeface="Be Vietnam Pro"/>
              </a:rPr>
              <a:t>816</a:t>
            </a:r>
          </a:p>
          <a:p>
            <a:pPr algn="l"/>
            <a:r>
              <a:rPr sz="1200" b="1" i="0">
                <a:solidFill>
                  <a:srgbClr val="1C2321"/>
                </a:solidFill>
                <a:latin typeface="IBM Plex Sans"/>
              </a:rPr>
              <a:t>bài kiểm thử tự động</a:t>
            </a:r>
          </a:p>
          <a:p>
            <a:pPr algn="l"/>
            <a:r>
              <a:rPr sz="1200" b="0" i="1">
                <a:solidFill>
                  <a:srgbClr val="5B6570"/>
                </a:solidFill>
                <a:latin typeface="IBM Plex Sans"/>
              </a:rPr>
              <a:t>[ S3 — em viết 1 dòng: con số này nghĩa là gì? ]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450000" y="16560000"/>
            <a:ext cx="17100000" cy="97200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4400">
            <a:solidFill>
              <a:srgbClr val="DB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774000" y="16848000"/>
            <a:ext cx="522000" cy="522000"/>
          </a:xfrm>
          <a:prstGeom prst="ellipse">
            <a:avLst/>
          </a:prstGeom>
          <a:solidFill>
            <a:srgbClr val="C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60" b="1" i="0">
                <a:solidFill>
                  <a:srgbClr val="FFFFFF"/>
                </a:solidFill>
                <a:latin typeface="Be Vietnam Pro"/>
              </a:rPr>
              <a:t>04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39999" y="16848000"/>
            <a:ext cx="15785999" cy="52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2321"/>
                </a:solidFill>
                <a:latin typeface="Be Vietnam Pro"/>
              </a:rPr>
              <a:t>Cách hoạt động</a:t>
            </a:r>
          </a:p>
        </p:txBody>
      </p:sp>
      <p:grpSp>
        <p:nvGrpSpPr>
          <p:cNvPr id="43" name="So do 5 lop"/>
          <p:cNvGrpSpPr/>
          <p:nvPr/>
        </p:nvGrpSpPr>
        <p:grpSpPr>
          <a:xfrm>
            <a:off x="0" y="0"/>
            <a:ext cx="0" cy="0"/>
            <a:chOff x="0" y="0"/>
            <a:chExt cx="0" cy="0"/>
          </a:xfrm>
        </p:grpSpPr>
      </p:grpSp>
      <p:sp>
        <p:nvSpPr>
          <p:cNvPr id="44" name="Rounded Rectangle 43"/>
          <p:cNvSpPr/>
          <p:nvPr/>
        </p:nvSpPr>
        <p:spPr>
          <a:xfrm>
            <a:off x="9979650" y="17755650"/>
            <a:ext cx="1850850" cy="3838800"/>
          </a:xfrm>
          <a:prstGeom prst="roundRect">
            <a:avLst>
              <a:gd name="adj" fmla="val 6666"/>
            </a:avLst>
          </a:prstGeom>
          <a:solidFill>
            <a:srgbClr val="F3F4F1"/>
          </a:solidFill>
          <a:ln w="20565">
            <a:solidFill>
              <a:srgbClr val="DB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99010" y="17991462"/>
            <a:ext cx="180000" cy="39210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374" b="1" i="0">
                <a:solidFill>
                  <a:srgbClr val="1C2321"/>
                </a:solidFill>
                <a:latin typeface="Be Vietnam Pro"/>
              </a:rPr>
              <a:t>Đầu vào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199010" y="18531636"/>
            <a:ext cx="180000" cy="285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7" b="0" i="0">
                <a:solidFill>
                  <a:srgbClr val="5B6570"/>
                </a:solidFill>
                <a:latin typeface="IBM Plex Sans"/>
              </a:rPr>
              <a:t>Danh sách CLB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99010" y="18860676"/>
            <a:ext cx="180000" cy="285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7" b="0" i="0">
                <a:solidFill>
                  <a:srgbClr val="5B6570"/>
                </a:solidFill>
                <a:latin typeface="IBM Plex Sans"/>
              </a:rPr>
              <a:t>· số chỗ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199010" y="19189716"/>
            <a:ext cx="180000" cy="285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7" b="0" i="0">
                <a:solidFill>
                  <a:srgbClr val="5B6570"/>
                </a:solidFill>
                <a:latin typeface="IBM Plex Sans"/>
              </a:rPr>
              <a:t>· suất dự trữ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99010" y="19518756"/>
            <a:ext cx="180000" cy="285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7" b="0" i="0">
                <a:solidFill>
                  <a:srgbClr val="5B6570"/>
                </a:solidFill>
                <a:latin typeface="IBM Plex Sans"/>
              </a:rPr>
              <a:t/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99010" y="19847796"/>
            <a:ext cx="180000" cy="285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7" b="0" i="0">
                <a:solidFill>
                  <a:srgbClr val="5B6570"/>
                </a:solidFill>
                <a:latin typeface="IBM Plex Sans"/>
              </a:rPr>
              <a:t>Điểm thi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99010" y="20176836"/>
            <a:ext cx="180000" cy="285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7" b="0" i="0">
                <a:solidFill>
                  <a:srgbClr val="5B6570"/>
                </a:solidFill>
                <a:latin typeface="IBM Plex Sans"/>
              </a:rPr>
              <a:t>· chấm mù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99010" y="20505876"/>
            <a:ext cx="180000" cy="285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7" b="0" i="0">
                <a:solidFill>
                  <a:srgbClr val="5B6570"/>
                </a:solidFill>
                <a:latin typeface="IBM Plex Sans"/>
              </a:rPr>
              <a:t/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99010" y="20834916"/>
            <a:ext cx="180000" cy="285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7" b="0" i="0">
                <a:solidFill>
                  <a:srgbClr val="5B6570"/>
                </a:solidFill>
                <a:latin typeface="IBM Plex Sans"/>
              </a:rPr>
              <a:t>Nguyện vọng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99010" y="21163956"/>
            <a:ext cx="180000" cy="285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7" b="0" i="0">
                <a:solidFill>
                  <a:srgbClr val="5B6570"/>
                </a:solidFill>
                <a:latin typeface="IBM Plex Sans"/>
              </a:rPr>
              <a:t>· xếp hạng CLB</a:t>
            </a:r>
          </a:p>
        </p:txBody>
      </p:sp>
      <p:sp>
        <p:nvSpPr>
          <p:cNvPr id="55" name="Right Arrow 54"/>
          <p:cNvSpPr/>
          <p:nvPr/>
        </p:nvSpPr>
        <p:spPr>
          <a:xfrm>
            <a:off x="11830499" y="19565370"/>
            <a:ext cx="342750" cy="219360"/>
          </a:xfrm>
          <a:prstGeom prst="rightArrow">
            <a:avLst/>
          </a:prstGeom>
          <a:solidFill>
            <a:srgbClr val="5B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12173250" y="17755650"/>
            <a:ext cx="4250100" cy="3838800"/>
          </a:xfrm>
          <a:prstGeom prst="roundRect">
            <a:avLst>
              <a:gd name="adj" fmla="val 3214"/>
            </a:avLst>
          </a:prstGeom>
          <a:solidFill>
            <a:srgbClr val="FFFFFF"/>
          </a:solidFill>
          <a:ln w="20565">
            <a:solidFill>
              <a:srgbClr val="278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12351480" y="17947590"/>
            <a:ext cx="411300" cy="411300"/>
          </a:xfrm>
          <a:prstGeom prst="ellipse">
            <a:avLst/>
          </a:prstGeom>
          <a:solidFill>
            <a:srgbClr val="B87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19" b="1" i="0">
                <a:solidFill>
                  <a:srgbClr val="FFFFFF"/>
                </a:solidFill>
                <a:latin typeface="Be Vietnam Pro"/>
              </a:rPr>
              <a:t>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886170" y="17990091"/>
            <a:ext cx="180000" cy="37428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267" b="1" i="0">
                <a:solidFill>
                  <a:srgbClr val="1C2321"/>
                </a:solidFill>
                <a:latin typeface="Be Vietnam Pro"/>
              </a:rPr>
              <a:t>Xếp ưu tiên ở mỗi CLB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392609" y="18517926"/>
            <a:ext cx="180000" cy="285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7" b="0" i="0">
                <a:solidFill>
                  <a:srgbClr val="5B6570"/>
                </a:solidFill>
                <a:latin typeface="IBM Plex Sans"/>
              </a:rPr>
              <a:t>Tầng 1 · em đã thi CLB đó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392609" y="18846966"/>
            <a:ext cx="180000" cy="285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7" b="0" i="0">
                <a:solidFill>
                  <a:srgbClr val="5B6570"/>
                </a:solidFill>
                <a:latin typeface="IBM Plex Sans"/>
              </a:rPr>
              <a:t>· điểm cao xếp trước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392609" y="19176006"/>
            <a:ext cx="180000" cy="285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7" b="0" i="0">
                <a:solidFill>
                  <a:srgbClr val="5B6570"/>
                </a:solidFill>
                <a:latin typeface="IBM Plex Sans"/>
              </a:rPr>
              <a:t>· bằng điểm → số bốc thăm nhỏ trước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392609" y="19505046"/>
            <a:ext cx="180000" cy="285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7" b="0" i="0">
                <a:solidFill>
                  <a:srgbClr val="5B6570"/>
                </a:solidFill>
                <a:latin typeface="IBM Plex Sans"/>
              </a:rPr>
              <a:t>Tầng 2 · em không thi CLB đó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392609" y="19834086"/>
            <a:ext cx="180000" cy="285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7" b="0" i="0">
                <a:solidFill>
                  <a:srgbClr val="5B6570"/>
                </a:solidFill>
                <a:latin typeface="IBM Plex Sans"/>
              </a:rPr>
              <a:t>· xếp theo số bốc thăm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392609" y="20163126"/>
            <a:ext cx="180000" cy="285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7" b="0" i="0">
                <a:solidFill>
                  <a:srgbClr val="5B6570"/>
                </a:solidFill>
                <a:latin typeface="IBM Plex Sans"/>
              </a:rPr>
              <a:t>Tầng 1 luôn đứng trước tầng 2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392609" y="20492166"/>
            <a:ext cx="180000" cy="285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7" b="0" i="0">
                <a:solidFill>
                  <a:srgbClr val="5B6570"/>
                </a:solidFill>
                <a:latin typeface="IBM Plex Sans"/>
              </a:rPr>
              <a:t>CLB không biết em chọn mình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392609" y="20821206"/>
            <a:ext cx="180000" cy="285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7" b="0" i="0">
                <a:solidFill>
                  <a:srgbClr val="5B6570"/>
                </a:solidFill>
                <a:latin typeface="IBM Plex Sans"/>
              </a:rPr>
              <a:t>là nguyện vọng thứ mấy</a:t>
            </a:r>
          </a:p>
        </p:txBody>
      </p:sp>
      <p:sp>
        <p:nvSpPr>
          <p:cNvPr id="67" name="Right Arrow 66"/>
          <p:cNvSpPr/>
          <p:nvPr/>
        </p:nvSpPr>
        <p:spPr>
          <a:xfrm>
            <a:off x="16423350" y="19565370"/>
            <a:ext cx="342750" cy="219360"/>
          </a:xfrm>
          <a:prstGeom prst="rightArrow">
            <a:avLst/>
          </a:prstGeom>
          <a:solidFill>
            <a:srgbClr val="5B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6766100" y="17755650"/>
            <a:ext cx="5209800" cy="3838800"/>
          </a:xfrm>
          <a:prstGeom prst="roundRect">
            <a:avLst>
              <a:gd name="adj" fmla="val 3214"/>
            </a:avLst>
          </a:prstGeom>
          <a:solidFill>
            <a:srgbClr val="DCE9E0"/>
          </a:solidFill>
          <a:ln w="27420">
            <a:solidFill>
              <a:srgbClr val="278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16944330" y="17947590"/>
            <a:ext cx="411300" cy="411300"/>
          </a:xfrm>
          <a:prstGeom prst="ellipse">
            <a:avLst/>
          </a:prstGeom>
          <a:solidFill>
            <a:srgbClr val="B87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19" b="1" i="0">
                <a:solidFill>
                  <a:srgbClr val="FFFFFF"/>
                </a:solidFill>
                <a:latin typeface="Be Vietnam Pro"/>
              </a:rPr>
              <a:t>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7479020" y="17991462"/>
            <a:ext cx="180000" cy="39210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374" b="1" i="0">
                <a:solidFill>
                  <a:srgbClr val="1C2321"/>
                </a:solidFill>
                <a:latin typeface="Be Vietnam Pro"/>
              </a:rPr>
              <a:t>Xét duyệt nhiều vòng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985460" y="18531636"/>
            <a:ext cx="180000" cy="285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7" b="0" i="0">
                <a:solidFill>
                  <a:srgbClr val="5B6570"/>
                </a:solidFill>
                <a:latin typeface="IBM Plex Sans"/>
              </a:rPr>
              <a:t>1. Em nộp vào nguyện vọng cao nhất còn mở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6985460" y="18860676"/>
            <a:ext cx="180000" cy="285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7" b="0" i="0">
                <a:solidFill>
                  <a:srgbClr val="5B6570"/>
                </a:solidFill>
                <a:latin typeface="IBM Plex Sans"/>
              </a:rPr>
              <a:t>2. CLB giữ tạm các em ưu tiên cao nhất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6985460" y="19189716"/>
            <a:ext cx="180000" cy="285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7" b="0" i="0">
                <a:solidFill>
                  <a:srgbClr val="5B6570"/>
                </a:solidFill>
                <a:latin typeface="IBM Plex Sans"/>
              </a:rPr>
              <a:t>3. Em bị trả lại nộp nguyện vọng kế tiếp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6985460" y="19518756"/>
            <a:ext cx="180000" cy="285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7" b="0" i="0">
                <a:solidFill>
                  <a:srgbClr val="5B6570"/>
                </a:solidFill>
                <a:latin typeface="IBM Plex Sans"/>
              </a:rPr>
              <a:t>4. Lặp đến khi không còn ai phải nộp lại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6985460" y="19880700"/>
            <a:ext cx="4771080" cy="1617780"/>
          </a:xfrm>
          <a:prstGeom prst="roundRect">
            <a:avLst>
              <a:gd name="adj" fmla="val 7627"/>
            </a:avLst>
          </a:prstGeom>
          <a:solidFill>
            <a:srgbClr val="FFFFFF"/>
          </a:solidFill>
          <a:ln w="20565">
            <a:solidFill>
              <a:srgbClr val="B878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17204820" y="20111028"/>
            <a:ext cx="180000" cy="320814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943" b="1" i="0">
                <a:solidFill>
                  <a:srgbClr val="1C2321"/>
                </a:solidFill>
                <a:latin typeface="Be Vietnam Pro"/>
              </a:rPr>
              <a:t>Suất dự trữ — xét hai lượt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7204820" y="20573055"/>
            <a:ext cx="180000" cy="26734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619" b="0" i="0">
                <a:solidFill>
                  <a:srgbClr val="5B6570"/>
                </a:solidFill>
                <a:latin typeface="IBM Plex Sans"/>
              </a:rPr>
              <a:t>Lượt 1 · chỉ xét em thuộc diện dự trữ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7204820" y="20860965"/>
            <a:ext cx="180000" cy="26734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619" b="0" i="0">
                <a:solidFill>
                  <a:srgbClr val="5B6570"/>
                </a:solidFill>
                <a:latin typeface="IBM Plex Sans"/>
              </a:rPr>
              <a:t>Lượt 2 · xét chung phần chỗ còn lại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7204820" y="21148875"/>
            <a:ext cx="180000" cy="26734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619" b="0" i="0">
                <a:solidFill>
                  <a:srgbClr val="5B6570"/>
                </a:solidFill>
                <a:latin typeface="IBM Plex Sans"/>
              </a:rPr>
              <a:t>Dư suất dự trữ → tự chuyển sang xét chung</a:t>
            </a:r>
          </a:p>
        </p:txBody>
      </p:sp>
      <p:sp>
        <p:nvSpPr>
          <p:cNvPr id="80" name="Right Arrow 79"/>
          <p:cNvSpPr/>
          <p:nvPr/>
        </p:nvSpPr>
        <p:spPr>
          <a:xfrm>
            <a:off x="21975900" y="19565370"/>
            <a:ext cx="342750" cy="219360"/>
          </a:xfrm>
          <a:prstGeom prst="rightArrow">
            <a:avLst/>
          </a:prstGeom>
          <a:solidFill>
            <a:srgbClr val="5B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22318650" y="17755650"/>
            <a:ext cx="3701700" cy="212505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20565">
            <a:solidFill>
              <a:srgbClr val="2780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22496880" y="17947590"/>
            <a:ext cx="411300" cy="411300"/>
          </a:xfrm>
          <a:prstGeom prst="ellipse">
            <a:avLst/>
          </a:prstGeom>
          <a:solidFill>
            <a:srgbClr val="B87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619" b="1" i="0">
                <a:solidFill>
                  <a:srgbClr val="FFFFFF"/>
                </a:solidFill>
                <a:latin typeface="Be Vietnam Pro"/>
              </a:rP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23031570" y="17991462"/>
            <a:ext cx="180000" cy="39210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374" b="1" i="0">
                <a:solidFill>
                  <a:srgbClr val="1C2321"/>
                </a:solidFill>
                <a:latin typeface="Be Vietnam Pro"/>
              </a:rPr>
              <a:t>Kiểm tra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22538010" y="18531636"/>
            <a:ext cx="180000" cy="285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7" b="0" i="0">
                <a:solidFill>
                  <a:srgbClr val="5B6570"/>
                </a:solidFill>
                <a:latin typeface="IBM Plex Sans"/>
              </a:rPr>
              <a:t>Tìm cặp phá vỡ: em thích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2538010" y="18860676"/>
            <a:ext cx="180000" cy="285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7" b="0" i="0">
                <a:solidFill>
                  <a:srgbClr val="5B6570"/>
                </a:solidFill>
                <a:latin typeface="IBM Plex Sans"/>
              </a:rPr>
              <a:t>CLB khác hơn và CLB đó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2538010" y="19189716"/>
            <a:ext cx="180000" cy="285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7" b="0" i="0">
                <a:solidFill>
                  <a:srgbClr val="5B6570"/>
                </a:solidFill>
                <a:latin typeface="IBM Plex Sans"/>
              </a:rPr>
              <a:t>cũng nhận em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2538010" y="19518756"/>
            <a:ext cx="180000" cy="285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7" b="0" i="0">
                <a:solidFill>
                  <a:srgbClr val="5B6570"/>
                </a:solidFill>
                <a:latin typeface="IBM Plex Sans"/>
              </a:rPr>
              <a:t>Yêu cầu: 0 cặp</a:t>
            </a:r>
          </a:p>
        </p:txBody>
      </p:sp>
      <p:sp>
        <p:nvSpPr>
          <p:cNvPr id="88" name="Down Arrow 87"/>
          <p:cNvSpPr/>
          <p:nvPr/>
        </p:nvSpPr>
        <p:spPr>
          <a:xfrm>
            <a:off x="24059819" y="19880700"/>
            <a:ext cx="219360" cy="205650"/>
          </a:xfrm>
          <a:prstGeom prst="downArrow">
            <a:avLst/>
          </a:prstGeom>
          <a:solidFill>
            <a:srgbClr val="5B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22318650" y="20086350"/>
            <a:ext cx="3701700" cy="1508100"/>
          </a:xfrm>
          <a:prstGeom prst="roundRect">
            <a:avLst>
              <a:gd name="adj" fmla="val 8181"/>
            </a:avLst>
          </a:prstGeom>
          <a:solidFill>
            <a:srgbClr val="F3F4F1"/>
          </a:solidFill>
          <a:ln w="20565">
            <a:solidFill>
              <a:srgbClr val="DB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22538010" y="20322162"/>
            <a:ext cx="180000" cy="39210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374" b="1" i="0">
                <a:solidFill>
                  <a:srgbClr val="1C2321"/>
                </a:solidFill>
                <a:latin typeface="Be Vietnam Pro"/>
              </a:rPr>
              <a:t>Kết quả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2538010" y="20862336"/>
            <a:ext cx="180000" cy="285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7" b="0" i="0">
                <a:solidFill>
                  <a:srgbClr val="5B6570"/>
                </a:solidFill>
                <a:latin typeface="IBM Plex Sans"/>
              </a:rPr>
              <a:t>Mỗi em một CLB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2538010" y="21191376"/>
            <a:ext cx="180000" cy="2851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727" b="0" i="0">
                <a:solidFill>
                  <a:srgbClr val="5B6570"/>
                </a:solidFill>
                <a:latin typeface="IBM Plex Sans"/>
              </a:rPr>
              <a:t>Xuất danh sách từng CLB</a:t>
            </a:r>
          </a:p>
        </p:txBody>
      </p:sp>
      <p:sp>
        <p:nvSpPr>
          <p:cNvPr id="93" name="Down Arrow 92"/>
          <p:cNvSpPr/>
          <p:nvPr/>
        </p:nvSpPr>
        <p:spPr>
          <a:xfrm>
            <a:off x="14188620" y="21594450"/>
            <a:ext cx="219360" cy="411300"/>
          </a:xfrm>
          <a:prstGeom prst="downArrow">
            <a:avLst/>
          </a:prstGeom>
          <a:solidFill>
            <a:srgbClr val="5B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9979650" y="22005750"/>
            <a:ext cx="16040700" cy="2193600"/>
          </a:xfrm>
          <a:prstGeom prst="roundRect">
            <a:avLst>
              <a:gd name="adj" fmla="val 5625"/>
            </a:avLst>
          </a:prstGeom>
          <a:solidFill>
            <a:srgbClr val="F1DFB8"/>
          </a:solidFill>
          <a:ln w="20565">
            <a:solidFill>
              <a:srgbClr val="B878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10199010" y="22197690"/>
            <a:ext cx="180000" cy="3564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2159" b="1" i="0">
                <a:solidFill>
                  <a:srgbClr val="1C2321"/>
                </a:solidFill>
                <a:latin typeface="Be Vietnam Pro"/>
              </a:rPr>
              <a:t>Bốc thăm hoạt động thế nào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10199010" y="22608990"/>
            <a:ext cx="3756540" cy="1453260"/>
          </a:xfrm>
          <a:prstGeom prst="roundRect">
            <a:avLst>
              <a:gd name="adj" fmla="val 8490"/>
            </a:avLst>
          </a:prstGeom>
          <a:solidFill>
            <a:srgbClr val="FFFFFF"/>
          </a:solidFill>
          <a:ln w="13710">
            <a:solidFill>
              <a:srgbClr val="B878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418370" y="22837947"/>
            <a:ext cx="180000" cy="302991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835" b="1" i="0">
                <a:solidFill>
                  <a:srgbClr val="1C2321"/>
                </a:solidFill>
                <a:latin typeface="Be Vietnam Pro"/>
              </a:rPr>
              <a:t>Một em · một số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418370" y="23272554"/>
            <a:ext cx="180000" cy="24952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511" b="0" i="0">
                <a:solidFill>
                  <a:srgbClr val="5B6570"/>
                </a:solidFill>
                <a:latin typeface="IBM Plex Sans"/>
              </a:rPr>
              <a:t>Bốc một lần cho mỗi học sinh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418370" y="23533044"/>
            <a:ext cx="180000" cy="24952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511" b="0" i="0">
                <a:solidFill>
                  <a:srgbClr val="5B6570"/>
                </a:solidFill>
                <a:latin typeface="IBM Plex Sans"/>
              </a:rPr>
              <a:t>Dùng chung cho mọi CLB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418370" y="23793534"/>
            <a:ext cx="180000" cy="24952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511" b="0" i="0">
                <a:solidFill>
                  <a:srgbClr val="5B6570"/>
                </a:solidFill>
                <a:latin typeface="IBM Plex Sans"/>
              </a:rPr>
              <a:t>Số nhỏ hơn → ưu tiên hơn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14147490" y="22608990"/>
            <a:ext cx="3756540" cy="1453260"/>
          </a:xfrm>
          <a:prstGeom prst="roundRect">
            <a:avLst>
              <a:gd name="adj" fmla="val 8490"/>
            </a:avLst>
          </a:prstGeom>
          <a:solidFill>
            <a:srgbClr val="FFFFFF"/>
          </a:solidFill>
          <a:ln w="13710">
            <a:solidFill>
              <a:srgbClr val="B878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4366850" y="22837947"/>
            <a:ext cx="180000" cy="302991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835" b="1" i="0">
                <a:solidFill>
                  <a:srgbClr val="1C2321"/>
                </a:solidFill>
                <a:latin typeface="Be Vietnam Pro"/>
              </a:rPr>
              <a:t>Chỉ dùng khi hoà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4366850" y="23272554"/>
            <a:ext cx="180000" cy="24952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511" b="0" i="0">
                <a:solidFill>
                  <a:srgbClr val="5B6570"/>
                </a:solidFill>
                <a:latin typeface="IBM Plex Sans"/>
              </a:rPr>
              <a:t>Hai em bằng điểm ở cùng CLB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4366850" y="23533044"/>
            <a:ext cx="180000" cy="24952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511" b="0" i="0">
                <a:solidFill>
                  <a:srgbClr val="5B6570"/>
                </a:solidFill>
                <a:latin typeface="IBM Plex Sans"/>
              </a:rPr>
              <a:t>hoặc em không thi CLB đó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4366850" y="23793534"/>
            <a:ext cx="180000" cy="24952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511" b="0" i="0">
                <a:solidFill>
                  <a:srgbClr val="5B6570"/>
                </a:solidFill>
                <a:latin typeface="IBM Plex Sans"/>
              </a:rPr>
              <a:t>Điểm luôn quyết định trước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8095970" y="22608990"/>
            <a:ext cx="3756540" cy="1453260"/>
          </a:xfrm>
          <a:prstGeom prst="roundRect">
            <a:avLst>
              <a:gd name="adj" fmla="val 8490"/>
            </a:avLst>
          </a:prstGeom>
          <a:solidFill>
            <a:srgbClr val="FFFFFF"/>
          </a:solidFill>
          <a:ln w="13710">
            <a:solidFill>
              <a:srgbClr val="B878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8315330" y="22837947"/>
            <a:ext cx="180000" cy="302991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835" b="1" i="0">
                <a:solidFill>
                  <a:srgbClr val="1C2321"/>
                </a:solidFill>
                <a:latin typeface="Be Vietnam Pro"/>
              </a:rPr>
              <a:t>Kiểm tra lại được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8315330" y="23272554"/>
            <a:ext cx="180000" cy="24952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511" b="0" i="0">
                <a:solidFill>
                  <a:srgbClr val="5B6570"/>
                </a:solidFill>
                <a:latin typeface="IBM Plex Sans"/>
              </a:rPr>
              <a:t>Không phụ thuộc thứ tự nhập tên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8315330" y="23533044"/>
            <a:ext cx="180000" cy="24952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511" b="0" i="0">
                <a:solidFill>
                  <a:srgbClr val="5B6570"/>
                </a:solidFill>
                <a:latin typeface="IBM Plex Sans"/>
              </a:rPr>
              <a:t>Cùng dữ liệu và cùng hạt giống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8315330" y="23793534"/>
            <a:ext cx="180000" cy="24952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511" b="0" i="0">
                <a:solidFill>
                  <a:srgbClr val="5B6570"/>
                </a:solidFill>
                <a:latin typeface="IBM Plex Sans"/>
              </a:rPr>
              <a:t>→ ra đúng một kết quả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22044450" y="22608990"/>
            <a:ext cx="3756540" cy="1453260"/>
          </a:xfrm>
          <a:prstGeom prst="roundRect">
            <a:avLst>
              <a:gd name="adj" fmla="val 8490"/>
            </a:avLst>
          </a:prstGeom>
          <a:solidFill>
            <a:srgbClr val="FFFFFF"/>
          </a:solidFill>
          <a:ln w="13710">
            <a:solidFill>
              <a:srgbClr val="B878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22263810" y="22837947"/>
            <a:ext cx="180000" cy="302991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835" b="1" i="0">
                <a:solidFill>
                  <a:srgbClr val="1C2321"/>
                </a:solidFill>
                <a:latin typeface="Be Vietnam Pro"/>
              </a:rPr>
              <a:t>Khoá sau khi bốc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2263810" y="23272554"/>
            <a:ext cx="180000" cy="24952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511" b="0" i="0">
                <a:solidFill>
                  <a:srgbClr val="5B6570"/>
                </a:solidFill>
                <a:latin typeface="IBM Plex Sans"/>
              </a:rPr>
              <a:t>Số đã bốc giữ nguyên ở lần chạy sau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22263810" y="23533044"/>
            <a:ext cx="180000" cy="24952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511" b="0" i="0">
                <a:solidFill>
                  <a:srgbClr val="5B6570"/>
                </a:solidFill>
                <a:latin typeface="IBM Plex Sans"/>
              </a:rPr>
              <a:t>Muốn bốc lại thì đổi hạt giống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2263810" y="23793534"/>
            <a:ext cx="180000" cy="249522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511" b="0" i="0">
                <a:solidFill>
                  <a:srgbClr val="5B6570"/>
                </a:solidFill>
                <a:latin typeface="IBM Plex Sans"/>
              </a:rPr>
              <a:t>và xác nhận thêm một lần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979650" y="24291207"/>
            <a:ext cx="180000" cy="213876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295" b="0" i="0">
                <a:solidFill>
                  <a:srgbClr val="8A929A"/>
                </a:solidFill>
                <a:latin typeface="IBM Plex Sans"/>
              </a:rPr>
              <a:t>Sơ đồ do AI tạo ra</a:t>
            </a:r>
          </a:p>
        </p:txBody>
      </p:sp>
      <p:sp>
        <p:nvSpPr>
          <p:cNvPr id="117" name="Rounded Rectangle 116"/>
          <p:cNvSpPr/>
          <p:nvPr/>
        </p:nvSpPr>
        <p:spPr>
          <a:xfrm>
            <a:off x="9774000" y="24686100"/>
            <a:ext cx="16452000" cy="1269899"/>
          </a:xfrm>
          <a:prstGeom prst="roundRect">
            <a:avLst>
              <a:gd name="adj" fmla="val 8504"/>
            </a:avLst>
          </a:prstGeom>
          <a:noFill/>
          <a:ln w="18000">
            <a:solidFill>
              <a:srgbClr val="DBDC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9954000" y="24830100"/>
            <a:ext cx="16092000" cy="9818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5B6570"/>
                </a:solidFill>
                <a:latin typeface="IBM Plex Sans"/>
              </a:rPr>
              <a:t>[ G2 — em viết 1–2 câu tóm tắt sơ đồ. Nhãn "Sơ đồ do AI tạo ra" đã có sẵn trong hình — giữ nguyên. ]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27450000" y="540000"/>
            <a:ext cx="8010000" cy="1044000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4400">
            <a:solidFill>
              <a:srgbClr val="DB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27774000" y="827999"/>
            <a:ext cx="522000" cy="522000"/>
          </a:xfrm>
          <a:prstGeom prst="ellipse">
            <a:avLst/>
          </a:prstGeom>
          <a:solidFill>
            <a:srgbClr val="C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60" b="1" i="0">
                <a:solidFill>
                  <a:srgbClr val="FFFFFF"/>
                </a:solidFill>
                <a:latin typeface="Be Vietnam Pro"/>
              </a:rPr>
              <a:t>05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28440000" y="827999"/>
            <a:ext cx="6695999" cy="52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2321"/>
                </a:solidFill>
                <a:latin typeface="Be Vietnam Pro"/>
              </a:rPr>
              <a:t>Lợi ích</a:t>
            </a:r>
          </a:p>
        </p:txBody>
      </p:sp>
      <p:sp>
        <p:nvSpPr>
          <p:cNvPr id="122" name="Oval 121"/>
          <p:cNvSpPr/>
          <p:nvPr/>
        </p:nvSpPr>
        <p:spPr>
          <a:xfrm>
            <a:off x="27774000" y="1548000"/>
            <a:ext cx="432000" cy="432000"/>
          </a:xfrm>
          <a:prstGeom prst="ellipse">
            <a:avLst/>
          </a:prstGeom>
          <a:solidFill>
            <a:srgbClr val="27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e Vietnam Pro"/>
              </a:rPr>
              <a:t>1</a:t>
            </a:r>
          </a:p>
        </p:txBody>
      </p:sp>
      <p:sp>
        <p:nvSpPr>
          <p:cNvPr id="123" name="Rounded Rectangle 122"/>
          <p:cNvSpPr/>
          <p:nvPr/>
        </p:nvSpPr>
        <p:spPr>
          <a:xfrm>
            <a:off x="28350000" y="1530000"/>
            <a:ext cx="6785999" cy="2137500"/>
          </a:xfrm>
          <a:prstGeom prst="roundRect">
            <a:avLst>
              <a:gd name="adj" fmla="val 5052"/>
            </a:avLst>
          </a:prstGeom>
          <a:noFill/>
          <a:ln w="18000">
            <a:solidFill>
              <a:srgbClr val="DBDC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8530000" y="1674000"/>
            <a:ext cx="6425999" cy="1849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5B6570"/>
                </a:solidFill>
                <a:latin typeface="IBM Plex Sans"/>
              </a:rPr>
              <a:t>[ P1 — một lợi ích, tối đa 2 dòng ]</a:t>
            </a:r>
          </a:p>
        </p:txBody>
      </p:sp>
      <p:sp>
        <p:nvSpPr>
          <p:cNvPr id="125" name="Oval 124"/>
          <p:cNvSpPr/>
          <p:nvPr/>
        </p:nvSpPr>
        <p:spPr>
          <a:xfrm>
            <a:off x="27774000" y="3829500"/>
            <a:ext cx="432000" cy="432000"/>
          </a:xfrm>
          <a:prstGeom prst="ellipse">
            <a:avLst/>
          </a:prstGeom>
          <a:solidFill>
            <a:srgbClr val="27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e Vietnam Pro"/>
              </a:rPr>
              <a:t>2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28350000" y="3811500"/>
            <a:ext cx="6785999" cy="2137500"/>
          </a:xfrm>
          <a:prstGeom prst="roundRect">
            <a:avLst>
              <a:gd name="adj" fmla="val 5052"/>
            </a:avLst>
          </a:prstGeom>
          <a:noFill/>
          <a:ln w="18000">
            <a:solidFill>
              <a:srgbClr val="DBDC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28530000" y="3955500"/>
            <a:ext cx="6425999" cy="1849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5B6570"/>
                </a:solidFill>
                <a:latin typeface="IBM Plex Sans"/>
              </a:rPr>
              <a:t>[ P2 — một lợi ích, tối đa 2 dòng ]</a:t>
            </a:r>
          </a:p>
        </p:txBody>
      </p:sp>
      <p:sp>
        <p:nvSpPr>
          <p:cNvPr id="128" name="Oval 127"/>
          <p:cNvSpPr/>
          <p:nvPr/>
        </p:nvSpPr>
        <p:spPr>
          <a:xfrm>
            <a:off x="27774000" y="6111000"/>
            <a:ext cx="432000" cy="432000"/>
          </a:xfrm>
          <a:prstGeom prst="ellipse">
            <a:avLst/>
          </a:prstGeom>
          <a:solidFill>
            <a:srgbClr val="27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e Vietnam Pro"/>
              </a:rPr>
              <a:t>3</a:t>
            </a:r>
          </a:p>
        </p:txBody>
      </p:sp>
      <p:sp>
        <p:nvSpPr>
          <p:cNvPr id="129" name="Rounded Rectangle 128"/>
          <p:cNvSpPr/>
          <p:nvPr/>
        </p:nvSpPr>
        <p:spPr>
          <a:xfrm>
            <a:off x="28350000" y="6093000"/>
            <a:ext cx="6785999" cy="2137500"/>
          </a:xfrm>
          <a:prstGeom prst="roundRect">
            <a:avLst>
              <a:gd name="adj" fmla="val 5052"/>
            </a:avLst>
          </a:prstGeom>
          <a:noFill/>
          <a:ln w="18000">
            <a:solidFill>
              <a:srgbClr val="DBDC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8530000" y="6237000"/>
            <a:ext cx="6425999" cy="1849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5B6570"/>
                </a:solidFill>
                <a:latin typeface="IBM Plex Sans"/>
              </a:rPr>
              <a:t>[ P3 — một lợi ích, tối đa 2 dòng ]</a:t>
            </a:r>
          </a:p>
        </p:txBody>
      </p:sp>
      <p:sp>
        <p:nvSpPr>
          <p:cNvPr id="131" name="Oval 130"/>
          <p:cNvSpPr/>
          <p:nvPr/>
        </p:nvSpPr>
        <p:spPr>
          <a:xfrm>
            <a:off x="27774000" y="8392500"/>
            <a:ext cx="432000" cy="432000"/>
          </a:xfrm>
          <a:prstGeom prst="ellipse">
            <a:avLst/>
          </a:prstGeom>
          <a:solidFill>
            <a:srgbClr val="2780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500" b="1" i="0">
                <a:solidFill>
                  <a:srgbClr val="FFFFFF"/>
                </a:solidFill>
                <a:latin typeface="Be Vietnam Pro"/>
              </a:rPr>
              <a:t>4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28350000" y="8374500"/>
            <a:ext cx="6785999" cy="2137500"/>
          </a:xfrm>
          <a:prstGeom prst="roundRect">
            <a:avLst>
              <a:gd name="adj" fmla="val 5052"/>
            </a:avLst>
          </a:prstGeom>
          <a:noFill/>
          <a:ln w="18000">
            <a:solidFill>
              <a:srgbClr val="DBDC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8530000" y="8518500"/>
            <a:ext cx="6425999" cy="18495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5B6570"/>
                </a:solidFill>
                <a:latin typeface="IBM Plex Sans"/>
              </a:rPr>
              <a:t>[ P4 — một lợi ích, tối đa 2 dòng ]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27450000" y="11430000"/>
            <a:ext cx="8010000" cy="11880000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4400">
            <a:solidFill>
              <a:srgbClr val="DBDC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27774000" y="11717999"/>
            <a:ext cx="522000" cy="522000"/>
          </a:xfrm>
          <a:prstGeom prst="ellipse">
            <a:avLst/>
          </a:prstGeom>
          <a:solidFill>
            <a:srgbClr val="C98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860" b="1" i="0">
                <a:solidFill>
                  <a:srgbClr val="FFFFFF"/>
                </a:solidFill>
                <a:latin typeface="Be Vietnam Pro"/>
              </a:rPr>
              <a:t>06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28440000" y="11717999"/>
            <a:ext cx="6695999" cy="522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C2321"/>
                </a:solidFill>
                <a:latin typeface="Be Vietnam Pro"/>
              </a:rPr>
              <a:t>Đã kiểm chứng</a:t>
            </a:r>
          </a:p>
        </p:txBody>
      </p:sp>
      <p:grpSp>
        <p:nvGrpSpPr>
          <p:cNvPr id="137" name="Bieu do khai gian"/>
          <p:cNvGrpSpPr/>
          <p:nvPr/>
        </p:nvGrpSpPr>
        <p:grpSpPr>
          <a:xfrm>
            <a:off x="27958050" y="13202212"/>
            <a:ext cx="6993899" cy="2208600"/>
            <a:chOff x="27958050" y="13202212"/>
            <a:chExt cx="6993899" cy="2208600"/>
          </a:xfrm>
        </p:grpSpPr>
        <p:graphicFrame>
          <p:nvGraphicFramePr>
            <p:cNvPr id="141" name="Chart 140"/>
            <p:cNvGraphicFramePr>
              <a:graphicFrameLocks noGrp="1"/>
            </p:cNvGraphicFramePr>
            <p:nvPr/>
          </p:nvGraphicFramePr>
          <p:xfrm>
            <a:off x="27958050" y="13202212"/>
            <a:ext cx="6993899" cy="2208600"/>
          </p:xfrm>
          <a:graphic>
            <a:graphicData uri="http://schemas.openxmlformats.org/drawingml/2006/chart">
              <c:chart xmlns:c="http://schemas.openxmlformats.org/drawingml/2006/chart" r:id="rId4"/>
            </a:graphicData>
          </a:graphic>
        </p:graphicFrame>
      </p:grpSp>
      <p:sp>
        <p:nvSpPr>
          <p:cNvPr id="138" name="TextBox 137"/>
          <p:cNvSpPr txBox="1"/>
          <p:nvPr/>
        </p:nvSpPr>
        <p:spPr>
          <a:xfrm>
            <a:off x="28050075" y="12605890"/>
            <a:ext cx="180000" cy="263191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594" b="1" i="0">
                <a:solidFill>
                  <a:srgbClr val="1C2321"/>
                </a:solidFill>
                <a:latin typeface="Be Vietnam Pro"/>
              </a:rPr>
              <a:t>Số em khai sai nguyện vọng mà được lợi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8050075" y="12893008"/>
            <a:ext cx="180000" cy="16748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14" b="0" i="0">
                <a:solidFill>
                  <a:srgbClr val="5B6570"/>
                </a:solidFill>
                <a:latin typeface="IBM Plex Sans"/>
              </a:rPr>
              <a:t>Vét cạn mọi cách khai của từng em · 200 thể hiện, 1 400 lượt học sinh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8050075" y="15541488"/>
            <a:ext cx="180000" cy="143559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69" b="0" i="0">
                <a:solidFill>
                  <a:srgbClr val="8A929A"/>
                </a:solidFill>
                <a:latin typeface="IBM Plex Sans"/>
              </a:rPr>
              <a:t>Dữ liệu mô phỏng — nguồn: NGHIEN_CUU_TOI_UU.md, TN3</a:t>
            </a:r>
          </a:p>
        </p:txBody>
      </p:sp>
      <p:grpSp>
        <p:nvGrpSpPr>
          <p:cNvPr id="142" name="Bieu do nguyen vong"/>
          <p:cNvGrpSpPr/>
          <p:nvPr/>
        </p:nvGrpSpPr>
        <p:grpSpPr>
          <a:xfrm>
            <a:off x="27958050" y="16797150"/>
            <a:ext cx="6993899" cy="3404924"/>
            <a:chOff x="27958050" y="16797150"/>
            <a:chExt cx="6993899" cy="3404924"/>
          </a:xfrm>
        </p:grpSpPr>
        <p:graphicFrame>
          <p:nvGraphicFramePr>
            <p:cNvPr id="146" name="Chart 145"/>
            <p:cNvGraphicFramePr>
              <a:graphicFrameLocks noGrp="1"/>
            </p:cNvGraphicFramePr>
            <p:nvPr/>
          </p:nvGraphicFramePr>
          <p:xfrm>
            <a:off x="27958050" y="16797150"/>
            <a:ext cx="6993899" cy="3404924"/>
          </p:xfrm>
          <a:graphic>
            <a:graphicData uri="http://schemas.openxmlformats.org/drawingml/2006/chart">
              <c:chart xmlns:c="http://schemas.openxmlformats.org/drawingml/2006/chart" r:id="rId5"/>
            </a:graphicData>
          </a:graphic>
        </p:graphicFrame>
      </p:grpSp>
      <p:sp>
        <p:nvSpPr>
          <p:cNvPr id="143" name="TextBox 142"/>
          <p:cNvSpPr txBox="1"/>
          <p:nvPr/>
        </p:nvSpPr>
        <p:spPr>
          <a:xfrm>
            <a:off x="28050075" y="16246840"/>
            <a:ext cx="180000" cy="263191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594" b="1" i="0">
                <a:solidFill>
                  <a:srgbClr val="1C2321"/>
                </a:solidFill>
                <a:latin typeface="Be Vietnam Pro"/>
              </a:rPr>
              <a:t>Được xếp vào nguyện vọng thứ mấy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28050075" y="16533958"/>
            <a:ext cx="180000" cy="16748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1014" b="0" i="0">
                <a:solidFill>
                  <a:srgbClr val="5B6570"/>
                </a:solidFill>
                <a:latin typeface="IBM Plex Sans"/>
              </a:rPr>
              <a:t>108 em được xếp · bộ 120 học sinh, 10 CLB · hạt giống bốc thăm 42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28050075" y="20378762"/>
            <a:ext cx="180000" cy="143559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 algn="l"/>
            <a:r>
              <a:rPr sz="869" b="0" i="0">
                <a:solidFill>
                  <a:srgbClr val="8A929A"/>
                </a:solidFill>
                <a:latin typeface="IBM Plex Sans"/>
              </a:rPr>
              <a:t>Dữ liệu mô phỏng — nguồn: du_lieu_test/SO_LIEU_DA_KIEM_CHUNG.md, mục 2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7774000" y="20806199"/>
            <a:ext cx="7362000" cy="2179800"/>
          </a:xfrm>
          <a:prstGeom prst="roundRect">
            <a:avLst>
              <a:gd name="adj" fmla="val 4954"/>
            </a:avLst>
          </a:prstGeom>
          <a:noFill/>
          <a:ln w="18000">
            <a:solidFill>
              <a:srgbClr val="DBDC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27954000" y="20950199"/>
            <a:ext cx="7002000" cy="1891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1">
                <a:solidFill>
                  <a:srgbClr val="5B6570"/>
                </a:solidFill>
                <a:latin typeface="IBM Plex Sans"/>
              </a:rPr>
              <a:t>[ P5 — em viết 1–2 câu: hai biểu đồ này nói gì với học sinh? ]</a:t>
            </a:r>
          </a:p>
        </p:txBody>
      </p:sp>
      <p:sp>
        <p:nvSpPr>
          <p:cNvPr id="149" name="Rounded Rectangle 148"/>
          <p:cNvSpPr/>
          <p:nvPr/>
        </p:nvSpPr>
        <p:spPr>
          <a:xfrm>
            <a:off x="27450000" y="23760000"/>
            <a:ext cx="8010000" cy="2520000"/>
          </a:xfrm>
          <a:prstGeom prst="roundRect">
            <a:avLst>
              <a:gd name="adj" fmla="val 4285"/>
            </a:avLst>
          </a:prstGeom>
          <a:solidFill>
            <a:srgbClr val="DCE9E0"/>
          </a:solidFill>
          <a:ln w="14400">
            <a:solidFill>
              <a:srgbClr val="DC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27774000" y="23975999"/>
            <a:ext cx="7362000" cy="360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F6B52"/>
                </a:solidFill>
                <a:latin typeface="Be Vietnam Pro"/>
              </a:rPr>
              <a:t>Tuyên bố sử dụng AI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27774000" y="24443999"/>
            <a:ext cx="7362000" cy="1656000"/>
          </a:xfrm>
          <a:prstGeom prst="roundRect">
            <a:avLst>
              <a:gd name="adj" fmla="val 6521"/>
            </a:avLst>
          </a:prstGeom>
          <a:noFill/>
          <a:ln w="18000">
            <a:solidFill>
              <a:srgbClr val="DBDCD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27954000" y="24588000"/>
            <a:ext cx="7002000" cy="136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5B6570"/>
                </a:solidFill>
                <a:latin typeface="IBM Plex Sans"/>
              </a:rPr>
              <a:t>[ P6 — theo Phụ lục 1: phần nào có AI hỗ trợ 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