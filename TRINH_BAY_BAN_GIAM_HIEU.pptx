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321"/>
                </a:solidFill>
                <a:latin typeface="Calibri"/>
              </a:defRPr>
            </a:pPr>
            <a:r>
              <a:rPr sz="1200" b="0" i="0" u="none" strike="noStrike">
                <a:solidFill>
                  <a:srgbClr val="1C2321"/>
                </a:solidFill>
                <a:latin typeface="Calibri"/>
              </a:rPr>
              <a:t>Số lượt xếp theo nguyện vọng (569 lượt)</a:t>
            </a:r>
          </a:p>
        </c:rich>
      </c:tx>
      <c:layout/>
      <c:overlay val="0"/>
    </c:title>
    <c:autoTitleDeleted val="0"/>
    <c:plotArea>
      <c:layout/>
      <c:barChart>
        <c:barDir val="col"/>
        <c:grouping val="clustered"/>
        <c:varyColors val="0"/>
        <c:ser>
          <c:idx val="0"/>
          <c:order val="0"/>
          <c:tx>
            <c:strRef>
              <c:f>Sheet1!$B$1</c:f>
              <c:strCache>
                <c:ptCount val="1"/>
                <c:pt idx="0">
                  <c:v>Số lượt xếp</c:v>
                </c:pt>
              </c:strCache>
            </c:strRef>
          </c:tx>
          <c:spPr>
            <a:solidFill>
              <a:srgbClr val="3F6B52"/>
            </a:solidFill>
            <a:effectLst/>
          </c:spPr>
          <c:invertIfNegative val="0"/>
          <c:dLbls>
            <c:numFmt formatCode="#,##0" sourceLinked="0"/>
            <c:txPr>
              <a:bodyPr/>
              <a:lstStyle/>
              <a:p>
                <a:pPr>
                  <a:defRPr b="0" i="0" strike="noStrike" sz="1100" u="none">
                    <a:solidFill>
                      <a:srgbClr val="1C2321"/>
                    </a:solidFill>
                    <a:latin typeface="Arial"/>
                  </a:defRPr>
                </a:pPr>
              </a:p>
            </c:txPr>
            <c:showLegendKey val="0"/>
            <c:showVal val="1"/>
            <c:showCatName val="0"/>
            <c:showSerName val="0"/>
            <c:showPercent val="0"/>
            <c:showBubbleSize val="0"/>
            <c:showLeaderLines val="0"/>
          </c:dLbls>
          <c:cat>
            <c:multiLvlStrRef>
              <c:f>Sheet1!$A$2:$A$5</c:f>
              <c:multiLvlStrCache>
                <c:ptCount val="4"/>
                <c:lvl>
                  <c:pt idx="0">
                    <c:v>NV 1</c:v>
                  </c:pt>
                  <c:pt idx="1">
                    <c:v>NV 2</c:v>
                  </c:pt>
                  <c:pt idx="2">
                    <c:v>NV 3</c:v>
                  </c:pt>
                  <c:pt idx="3">
                    <c:v>NV 4</c:v>
                  </c:pt>
                </c:lvl>
              </c:multiLvlStrCache>
            </c:multiLvlStrRef>
          </c:cat>
          <c:val>
            <c:numRef>
              <c:f>Sheet1!$B$2:$B$5</c:f>
              <c:numCache>
                <c:formatCode>General</c:formatCode>
                <c:ptCount val="4"/>
                <c:pt idx="0">
                  <c:v>427</c:v>
                </c:pt>
                <c:pt idx="1">
                  <c:v>98</c:v>
                </c:pt>
                <c:pt idx="2">
                  <c:v>27</c:v>
                </c:pt>
                <c:pt idx="3">
                  <c:v>17</c:v>
                </c:pt>
              </c:numCache>
            </c:numRef>
          </c:val>
        </c:ser>
        <c:dLbls>
          <c:numFmt formatCode="#,##0" sourceLinked="0"/>
          <c:txPr>
            <a:bodyPr/>
            <a:lstStyle/>
            <a:p>
              <a:pPr>
                <a:defRPr b="0" i="0" strike="noStrike" sz="1100" u="none">
                  <a:solidFill>
                    <a:srgbClr val="1C2321"/>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7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321"/>
                </a:solidFill>
                <a:latin typeface="Calibri"/>
              </a:defRPr>
            </a:pPr>
            <a:r>
              <a:rPr sz="1200" b="0" i="0" u="none" strike="noStrike">
                <a:solidFill>
                  <a:srgbClr val="1C2321"/>
                </a:solidFill>
                <a:latin typeface="Calibri"/>
              </a:rPr>
              <a:t>Thời gian bước phân bổ (giây) theo số học sinh</a:t>
            </a:r>
          </a:p>
        </c:rich>
      </c:tx>
      <c:layout/>
      <c:overlay val="0"/>
    </c:title>
    <c:autoTitleDeleted val="0"/>
    <c:plotArea>
      <c:layout/>
      <c:lineChart>
        <c:varyColors val="0"/>
        <c:ser>
          <c:idx val="0"/>
          <c:order val="0"/>
          <c:tx>
            <c:strRef>
              <c:f>Sheet1!$B$1</c:f>
              <c:strCache>
                <c:ptCount val="1"/>
                <c:pt idx="0">
                  <c:v>10 CLB</c:v>
                </c:pt>
              </c:strCache>
            </c:strRef>
          </c:tx>
          <c:spPr>
            <a:solidFill>
              <a:srgbClr val="B84A3E"/>
            </a:solidFill>
            <a:ln w="25400" cap="flat">
              <a:solidFill>
                <a:srgbClr val="B84A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4A3E"/>
              </a:solidFill>
              <a:ln w="9525" cap="flat">
                <a:solidFill>
                  <a:srgbClr val="B84A3E"/>
                </a:solidFill>
                <a:prstDash val="solid"/>
                <a:round/>
              </a:ln>
              <a:effectLst/>
            </c:spPr>
          </c:marker>
          <c:cat>
            <c:multiLvlStrRef>
              <c:f>Sheet1!$A$2:$A$4</c:f>
              <c:multiLvlStrCache>
                <c:ptCount val="3"/>
                <c:lvl>
                  <c:pt idx="0">
                    <c:v>1 000</c:v>
                  </c:pt>
                  <c:pt idx="1">
                    <c:v>2 000</c:v>
                  </c:pt>
                  <c:pt idx="2">
                    <c:v>5 000</c:v>
                  </c:pt>
                </c:lvl>
              </c:multiLvlStrCache>
            </c:multiLvlStrRef>
          </c:cat>
          <c:val>
            <c:numRef>
              <c:f>Sheet1!$B$2:$B$4</c:f>
              <c:numCache>
                <c:formatCode>General</c:formatCode>
                <c:ptCount val="3"/>
                <c:pt idx="0">
                  <c:v>0.35</c:v>
                </c:pt>
                <c:pt idx="1">
                  <c:v>1.02</c:v>
                </c:pt>
                <c:pt idx="2">
                  <c:v>5.22</c:v>
                </c:pt>
              </c:numCache>
            </c:numRef>
          </c:val>
          <c:smooth val="0"/>
        </c:ser>
        <c:ser>
          <c:idx val="1"/>
          <c:order val="1"/>
          <c:tx>
            <c:strRef>
              <c:f>Sheet1!$C$1</c:f>
              <c:strCache>
                <c:ptCount val="1"/>
                <c:pt idx="0">
                  <c:v>25 CLB</c:v>
                </c:pt>
              </c:strCache>
            </c:strRef>
          </c:tx>
          <c:spPr>
            <a:solidFill>
              <a:srgbClr val="C98A1F"/>
            </a:solidFill>
            <a:ln w="25400" cap="flat">
              <a:solidFill>
                <a:srgbClr val="C98A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8A1F"/>
              </a:solidFill>
              <a:ln w="9525" cap="flat">
                <a:solidFill>
                  <a:srgbClr val="C98A1F"/>
                </a:solidFill>
                <a:prstDash val="solid"/>
                <a:round/>
              </a:ln>
              <a:effectLst/>
            </c:spPr>
          </c:marker>
          <c:cat>
            <c:multiLvlStrRef>
              <c:f>Sheet1!$A$2:$A$4</c:f>
              <c:multiLvlStrCache>
                <c:ptCount val="3"/>
                <c:lvl>
                  <c:pt idx="0">
                    <c:v>1 000</c:v>
                  </c:pt>
                  <c:pt idx="1">
                    <c:v>2 000</c:v>
                  </c:pt>
                  <c:pt idx="2">
                    <c:v>5 000</c:v>
                  </c:pt>
                </c:lvl>
              </c:multiLvlStrCache>
            </c:multiLvlStrRef>
          </c:cat>
          <c:val>
            <c:numRef>
              <c:f>Sheet1!$C$2:$C$4</c:f>
              <c:numCache>
                <c:formatCode>General</c:formatCode>
                <c:ptCount val="3"/>
                <c:pt idx="0">
                  <c:v>0.32</c:v>
                </c:pt>
                <c:pt idx="1">
                  <c:v>0.85</c:v>
                </c:pt>
                <c:pt idx="2">
                  <c:v>3.89</c:v>
                </c:pt>
              </c:numCache>
            </c:numRef>
          </c:val>
          <c:smooth val="0"/>
        </c:ser>
        <c:ser>
          <c:idx val="2"/>
          <c:order val="2"/>
          <c:tx>
            <c:strRef>
              <c:f>Sheet1!$D$1</c:f>
              <c:strCache>
                <c:ptCount val="1"/>
                <c:pt idx="0">
                  <c:v>50 CLB</c:v>
                </c:pt>
              </c:strCache>
            </c:strRef>
          </c:tx>
          <c:spPr>
            <a:solidFill>
              <a:srgbClr val="3F6B52"/>
            </a:solidFill>
            <a:ln w="25400" cap="flat">
              <a:solidFill>
                <a:srgbClr val="3F6B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F6B52"/>
              </a:solidFill>
              <a:ln w="9525" cap="flat">
                <a:solidFill>
                  <a:srgbClr val="3F6B52"/>
                </a:solidFill>
                <a:prstDash val="solid"/>
                <a:round/>
              </a:ln>
              <a:effectLst/>
            </c:spPr>
          </c:marker>
          <c:cat>
            <c:multiLvlStrRef>
              <c:f>Sheet1!$A$2:$A$4</c:f>
              <c:multiLvlStrCache>
                <c:ptCount val="3"/>
                <c:lvl>
                  <c:pt idx="0">
                    <c:v>1 000</c:v>
                  </c:pt>
                  <c:pt idx="1">
                    <c:v>2 000</c:v>
                  </c:pt>
                  <c:pt idx="2">
                    <c:v>5 000</c:v>
                  </c:pt>
                </c:lvl>
              </c:multiLvlStrCache>
            </c:multiLvlStrRef>
          </c:cat>
          <c:val>
            <c:numRef>
              <c:f>Sheet1!$D$2:$D$4</c:f>
              <c:numCache>
                <c:formatCode>General</c:formatCode>
                <c:ptCount val="3"/>
                <c:pt idx="0">
                  <c:v>0.34</c:v>
                </c:pt>
                <c:pt idx="1">
                  <c:v>0.7</c:v>
                </c:pt>
                <c:pt idx="2">
                  <c:v>2.79</c:v>
                </c:pt>
              </c:numCache>
            </c:numRef>
          </c:val>
          <c:smooth val="0"/>
        </c:ser>
        <c:ser>
          <c:idx val="3"/>
          <c:order val="3"/>
          <c:tx>
            <c:strRef>
              <c:f>Sheet1!$E$1</c:f>
              <c:strCache>
                <c:ptCount val="1"/>
                <c:pt idx="0">
                  <c:v>100 CLB</c:v>
                </c:pt>
              </c:strCache>
            </c:strRef>
          </c:tx>
          <c:spPr>
            <a:solidFill>
              <a:srgbClr val="5B6570"/>
            </a:solidFill>
            <a:ln w="25400" cap="flat">
              <a:solidFill>
                <a:srgbClr val="5B65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B6570"/>
              </a:solidFill>
              <a:ln w="9525" cap="flat">
                <a:solidFill>
                  <a:srgbClr val="5B6570"/>
                </a:solidFill>
                <a:prstDash val="solid"/>
                <a:round/>
              </a:ln>
              <a:effectLst/>
            </c:spPr>
          </c:marker>
          <c:cat>
            <c:multiLvlStrRef>
              <c:f>Sheet1!$A$2:$A$4</c:f>
              <c:multiLvlStrCache>
                <c:ptCount val="3"/>
                <c:lvl>
                  <c:pt idx="0">
                    <c:v>1 000</c:v>
                  </c:pt>
                  <c:pt idx="1">
                    <c:v>2 000</c:v>
                  </c:pt>
                  <c:pt idx="2">
                    <c:v>5 000</c:v>
                  </c:pt>
                </c:lvl>
              </c:multiLvlStrCache>
            </c:multiLvlStrRef>
          </c:cat>
          <c:val>
            <c:numRef>
              <c:f>Sheet1!$E$2:$E$4</c:f>
              <c:numCache>
                <c:formatCode>General</c:formatCode>
                <c:ptCount val="3"/>
                <c:pt idx="0">
                  <c:v>0.33</c:v>
                </c:pt>
                <c:pt idx="1">
                  <c:v>0.7</c:v>
                </c:pt>
                <c:pt idx="2">
                  <c:v>2.46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7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A423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mục đích buổi báo cáo: giới thiệu phần mềm xếp học sinh vào câu lạc bộ, giải thích vì sao cách xếp này công bằng, và xin ý kiến Ban Giám hiệu về việc chạy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bảy phần của bài trình bày. Dòng chữ xanh dưới mỗi phần cho biết mục tương ứng trong báo cáo nghiên cứu, để Ban Giám hiệu đọc kỹ hơn nếu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bốn khó khăn thường gặp khi xếp học sinh vào CLB. Nên dừng lâu hơn ở ô cuối, vì phần mềm được làm ra để thay cho cách xét theo thứ tự đăng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học sinh và số CLB lấy đúng theo mục 2.2.1 của báo cáo. Ba câu hỏi được giữ nguyên ý như mục 3.1. Slide này chỉ chỉ ra trang có số liệu liên quan; câu trả lời và kết luận cho từng câu hỏi do nhóm tự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Nhà trường vốn đã quen dùng Microsoft Forms. Kết quả từ Forms xuất ra Excel là nạp được ngay, không phải chuyển đổi gì. Toàn bộ dữ liệu học sinh nằm trên máy của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giải thích bằng lời thường, không cần công thức. Ý chính là CLB chỉ giữ chỗ tạm chứ không chốt ngay, nên thứ tự nộp đơn không làm thay đổi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xuất phát từ thực tế của trường: có CLB thi tuyển, có CLB không. Hai tầng luôn tách riêng, toàn bộ Tầng 1 đứng trước Tầng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rất quan trọng. Phần mềm tự kiểm tra 8 tình huống mà dữ liệu vẫn hợp lệ nhưng có thể làm sai kết quả mà không ai hay, chẳng hạn giáo viên mới chấm được một phần. Các cảnh báo này hiện ngay phía trên nút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Kết quả sau khi chạy với bộ dữ liệu mô phỏng bo_can_bang: 200 học sinh, 24 CLB, 6 buổi. 23 trên 24 CLB đã đủ người. Ảnh chỉ chụp phần đầu danh sách CLB.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chính là du_lieu_test/bo_can_bang (seed 31415), chạy với hạt giống bốc thăm 42. Bộ này mô phỏng hình dáng một trường nhiều buổi: chỉ 6 trên 24 CLB tổ chức thi. Mỗi học sinh được tối đa một CLB mỗi buổi, nên 'lượt xếp' là một lần một học sinh được xếp vào một CLB ở một buổi; 182 học sinh có tổng cộng 569 lượt. 15 học sinh không ghi nguyện vọng nào nên không có CLB, phần mềm đã cảnh báo trước khi chạy. 3 học sinh có đăng ký nhưng mọi CLB các học sinh này chọn đều đã đủ người (23 trên 24 CLB kín chỗ). Dòng so sánh lấy từ bộ TEST 120 học sinh, cố ý cho cạnh tranh cao, để cho thấy phần mềm vẫn xếp đúng khi thiếu chỗ. Cả hai bộ đều là dữ liệu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dùng cùng bộ số đo với mục 4.3.1 của báo cáo (du_lieu_test/thu_tai/ket_qua_thu_tai.csv). 7,65 giây là riêng bước phân bổ; nếu tính cả bước nạp dữ liệu và xuất tệp thì lần chạy đó mất khoảng 11,5 giây. Toàn bộ là dữ liệu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ổn định nghĩa là không có học sinh và CLB nào cùng muốn bỏ kết quả hiện tại để chọn nhau. Con số 1,1% tính trên ba bộ dữ liệu, tổng cộng 270 học sinh: chỉ có 3 học sinh mà việc có chỗ hay không phụ thuộc vào bốc thăm.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tính năng này đã có sẵn trong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ba việc cụ thể cần Ban Giám hiệu quyết định. Nhóm nên sửa phần đề nghị cho khớp với kế hoạch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321"/>
        </a:solidFill>
      </p:bgPr>
    </p:bg>
    <p:spTree>
      <p:nvGrpSpPr>
        <p:cNvPr id="1" name=""/>
        <p:cNvGrpSpPr/>
        <p:nvPr/>
      </p:nvGrpSpPr>
      <p:grpSpPr>
        <a:xfrm>
          <a:off x="0" y="0"/>
          <a:ext cx="0" cy="0"/>
          <a:chOff x="0" y="0"/>
          <a:chExt cx="0" cy="0"/>
        </a:xfrm>
      </p:grpSpPr>
      <p:sp>
        <p:nvSpPr>
          <p:cNvPr id="2" name="Shape 0"/>
          <p:cNvSpPr/>
          <p:nvPr/>
        </p:nvSpPr>
        <p:spPr>
          <a:xfrm>
            <a:off x="457200" y="548640"/>
            <a:ext cx="685800" cy="685800"/>
          </a:xfrm>
          <a:prstGeom prst="roundRect">
            <a:avLst>
              <a:gd name="adj" fmla="val 13333"/>
            </a:avLst>
          </a:prstGeom>
          <a:solidFill>
            <a:srgbClr val="C98A1F"/>
          </a:solidFill>
          <a:ln w="12700">
            <a:solidFill>
              <a:srgbClr val="C98A1F"/>
            </a:solidFill>
            <a:prstDash val="solid"/>
          </a:ln>
        </p:spPr>
      </p:sp>
      <p:sp>
        <p:nvSpPr>
          <p:cNvPr id="3" name="Text 1"/>
          <p:cNvSpPr txBox="1"/>
          <p:nvPr/>
        </p:nvSpPr>
        <p:spPr>
          <a:xfrm>
            <a:off x="457200" y="548640"/>
            <a:ext cx="685800" cy="685800"/>
          </a:xfrm>
          <a:prstGeom prst="rect">
            <a:avLst/>
          </a:prstGeom>
          <a:noFill/>
          <a:ln/>
        </p:spPr>
        <p:txBody>
          <a:bodyPr wrap="square" lIns="0" tIns="0" rIns="0" bIns="0" rtlCol="0" anchor="ctr"/>
          <a:lstStyle/>
          <a:p>
            <a:pPr algn="ctr" indent="0" marL="0">
              <a:buNone/>
            </a:pPr>
            <a:r>
              <a:rPr lang="en-US" sz="2200" b="1" dirty="0">
                <a:solidFill>
                  <a:srgbClr val="1C2321"/>
                </a:solidFill>
                <a:latin typeface="Cambria" pitchFamily="34" charset="0"/>
                <a:ea typeface="Cambria" pitchFamily="34" charset="-122"/>
                <a:cs typeface="Cambria" pitchFamily="34" charset="-120"/>
              </a:rPr>
              <a:t>RB</a:t>
            </a:r>
            <a:endParaRPr lang="en-US" sz="2200" dirty="0"/>
          </a:p>
        </p:txBody>
      </p:sp>
      <p:sp>
        <p:nvSpPr>
          <p:cNvPr id="4" name="Text 2"/>
          <p:cNvSpPr txBox="1"/>
          <p:nvPr/>
        </p:nvSpPr>
        <p:spPr>
          <a:xfrm>
            <a:off x="457200" y="1600200"/>
            <a:ext cx="8229600" cy="274320"/>
          </a:xfrm>
          <a:prstGeom prst="rect">
            <a:avLst/>
          </a:prstGeom>
          <a:noFill/>
          <a:ln/>
        </p:spPr>
        <p:txBody>
          <a:bodyPr wrap="square" lIns="0" tIns="0" rIns="0" bIns="0" rtlCol="0" anchor="ctr"/>
          <a:lstStyle/>
          <a:p>
            <a:pPr indent="0" marL="0">
              <a:buNone/>
            </a:pPr>
            <a:r>
              <a:rPr lang="en-US" sz="1200" b="1" spc="300" kern="0" dirty="0">
                <a:solidFill>
                  <a:srgbClr val="C98A1F"/>
                </a:solidFill>
                <a:latin typeface="Calibri" pitchFamily="34" charset="0"/>
                <a:ea typeface="Calibri" pitchFamily="34" charset="-122"/>
                <a:cs typeface="Calibri" pitchFamily="34" charset="-120"/>
              </a:rPr>
              <a:t>BÁO CÁO NGHIÊN CỨU 21-03  ·  TRÌNH BAN GIÁM HIỆU</a:t>
            </a:r>
            <a:endParaRPr lang="en-US" sz="1200" dirty="0"/>
          </a:p>
        </p:txBody>
      </p:sp>
      <p:sp>
        <p:nvSpPr>
          <p:cNvPr id="5" name="Text 3"/>
          <p:cNvSpPr txBox="1"/>
          <p:nvPr/>
        </p:nvSpPr>
        <p:spPr>
          <a:xfrm>
            <a:off x="457200" y="1920240"/>
            <a:ext cx="777240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Phần mềm sắp xếp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học sinh vào câu lạc bộ</a:t>
            </a:r>
            <a:endParaRPr lang="en-US" sz="4000" dirty="0"/>
          </a:p>
        </p:txBody>
      </p:sp>
      <p:sp>
        <p:nvSpPr>
          <p:cNvPr id="6" name="Text 4"/>
          <p:cNvSpPr txBox="1"/>
          <p:nvPr/>
        </p:nvSpPr>
        <p:spPr>
          <a:xfrm>
            <a:off x="457200" y="3429000"/>
            <a:ext cx="7772400" cy="365760"/>
          </a:xfrm>
          <a:prstGeom prst="rect">
            <a:avLst/>
          </a:prstGeom>
          <a:noFill/>
          <a:ln/>
        </p:spPr>
        <p:txBody>
          <a:bodyPr wrap="square" lIns="0" tIns="0" rIns="0" bIns="0" rtlCol="0" anchor="ctr"/>
          <a:lstStyle/>
          <a:p>
            <a:pPr indent="0" marL="0">
              <a:buNone/>
            </a:pPr>
            <a:r>
              <a:rPr lang="en-US" sz="1600" i="1" dirty="0">
                <a:solidFill>
                  <a:srgbClr val="C9CEC9"/>
                </a:solidFill>
                <a:latin typeface="Calibri" pitchFamily="34" charset="0"/>
                <a:ea typeface="Calibri" pitchFamily="34" charset="-122"/>
                <a:cs typeface="Calibri" pitchFamily="34" charset="-120"/>
              </a:rPr>
              <a:t>Xếp chỗ công bằng, ai cũng kiểm tra lại được, chạy ngay trên máy tính của trường</a:t>
            </a:r>
            <a:endParaRPr lang="en-US" sz="1600" dirty="0"/>
          </a:p>
        </p:txBody>
      </p:sp>
      <p:sp>
        <p:nvSpPr>
          <p:cNvPr id="7" name="Text 5"/>
          <p:cNvSpPr txBox="1"/>
          <p:nvPr/>
        </p:nvSpPr>
        <p:spPr>
          <a:xfrm>
            <a:off x="457200" y="4297680"/>
            <a:ext cx="7772400" cy="457200"/>
          </a:xfrm>
          <a:prstGeom prst="rect">
            <a:avLst/>
          </a:prstGeom>
          <a:noFill/>
          <a:ln/>
        </p:spPr>
        <p:txBody>
          <a:bodyPr wrap="square" lIns="0" tIns="0" rIns="0" bIns="0" rtlCol="0" anchor="ctr"/>
          <a:lstStyle/>
          <a:p>
            <a:pPr indent="0" marL="0">
              <a:buNone/>
            </a:pPr>
            <a:r>
              <a:rPr lang="en-US" sz="1100" dirty="0">
                <a:solidFill>
                  <a:srgbClr val="8A938F"/>
                </a:solidFill>
                <a:latin typeface="Calibri" pitchFamily="34" charset="0"/>
                <a:ea typeface="Calibri" pitchFamily="34" charset="-122"/>
                <a:cs typeface="Calibri" pitchFamily="34" charset="-120"/>
              </a:rPr>
              <a:t>Đề tài: Xây dựng phần mềm sắp xếp học sinh vào các câu lạc bộ ngoại khóa ứng dụng thuật toán chấp nhận trì hoãn (Gale-Shapley). Năm học 2026 - 2027.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NỘI DUNG</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Mục lục</a:t>
            </a:r>
            <a:endParaRPr lang="en-US" sz="3000" dirty="0"/>
          </a:p>
        </p:txBody>
      </p:sp>
      <p:sp>
        <p:nvSpPr>
          <p:cNvPr id="4" name="Shape 2"/>
          <p:cNvSpPr/>
          <p:nvPr/>
        </p:nvSpPr>
        <p:spPr>
          <a:xfrm>
            <a:off x="457200" y="1234440"/>
            <a:ext cx="457200" cy="457200"/>
          </a:xfrm>
          <a:prstGeom prst="ellipse">
            <a:avLst/>
          </a:prstGeom>
          <a:solidFill>
            <a:srgbClr val="1C2321"/>
          </a:solidFill>
          <a:ln w="12700">
            <a:solidFill>
              <a:srgbClr val="1C2321"/>
            </a:solidFill>
            <a:prstDash val="solid"/>
          </a:ln>
        </p:spPr>
      </p:sp>
      <p:sp>
        <p:nvSpPr>
          <p:cNvPr id="5" name="Text 3"/>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097280" y="118872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Bài toán và bối cảnh</a:t>
            </a:r>
            <a:endParaRPr lang="en-US" sz="1500" dirty="0"/>
          </a:p>
        </p:txBody>
      </p:sp>
      <p:sp>
        <p:nvSpPr>
          <p:cNvPr id="7" name="Text 5"/>
          <p:cNvSpPr txBox="1"/>
          <p:nvPr/>
        </p:nvSpPr>
        <p:spPr>
          <a:xfrm>
            <a:off x="1097280" y="148132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Vấn đề tại trường, câu hỏi nghiên cứu</a:t>
            </a:r>
            <a:endParaRPr lang="en-US" sz="1100" dirty="0"/>
          </a:p>
        </p:txBody>
      </p:sp>
      <p:sp>
        <p:nvSpPr>
          <p:cNvPr id="8" name="Text 6"/>
          <p:cNvSpPr txBox="1"/>
          <p:nvPr/>
        </p:nvSpPr>
        <p:spPr>
          <a:xfrm>
            <a:off x="1097280" y="170078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2.2, 3.1</a:t>
            </a:r>
            <a:endParaRPr lang="en-US" sz="900" dirty="0"/>
          </a:p>
        </p:txBody>
      </p:sp>
      <p:sp>
        <p:nvSpPr>
          <p:cNvPr id="9" name="Text 7"/>
          <p:cNvSpPr txBox="1"/>
          <p:nvPr/>
        </p:nvSpPr>
        <p:spPr>
          <a:xfrm>
            <a:off x="3840480" y="118872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3</a:t>
            </a:r>
            <a:endParaRPr lang="en-US" sz="1000" dirty="0"/>
          </a:p>
        </p:txBody>
      </p:sp>
      <p:sp>
        <p:nvSpPr>
          <p:cNvPr id="10" name="Shape 8"/>
          <p:cNvSpPr/>
          <p:nvPr/>
        </p:nvSpPr>
        <p:spPr>
          <a:xfrm>
            <a:off x="457200" y="2011680"/>
            <a:ext cx="457200" cy="457200"/>
          </a:xfrm>
          <a:prstGeom prst="ellipse">
            <a:avLst/>
          </a:prstGeom>
          <a:solidFill>
            <a:srgbClr val="1C2321"/>
          </a:solidFill>
          <a:ln w="12700">
            <a:solidFill>
              <a:srgbClr val="1C2321"/>
            </a:solidFill>
            <a:prstDash val="solid"/>
          </a:ln>
        </p:spPr>
      </p:sp>
      <p:sp>
        <p:nvSpPr>
          <p:cNvPr id="11" name="Text 9"/>
          <p:cNvSpPr txBox="1"/>
          <p:nvPr/>
        </p:nvSpPr>
        <p:spPr>
          <a:xfrm>
            <a:off x="457200" y="201168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097280" y="196596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Giải pháp</a:t>
            </a:r>
            <a:endParaRPr lang="en-US" sz="1500" dirty="0"/>
          </a:p>
        </p:txBody>
      </p:sp>
      <p:sp>
        <p:nvSpPr>
          <p:cNvPr id="13" name="Text 11"/>
          <p:cNvSpPr txBox="1"/>
          <p:nvPr/>
        </p:nvSpPr>
        <p:spPr>
          <a:xfrm>
            <a:off x="1097280" y="225856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Từ ba tệp Excel tới danh sách từng CLB</a:t>
            </a:r>
            <a:endParaRPr lang="en-US" sz="1100" dirty="0"/>
          </a:p>
        </p:txBody>
      </p:sp>
      <p:sp>
        <p:nvSpPr>
          <p:cNvPr id="14" name="Text 12"/>
          <p:cNvSpPr txBox="1"/>
          <p:nvPr/>
        </p:nvSpPr>
        <p:spPr>
          <a:xfrm>
            <a:off x="1097280" y="247802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2.2.4, 4.2.1</a:t>
            </a:r>
            <a:endParaRPr lang="en-US" sz="900" dirty="0"/>
          </a:p>
        </p:txBody>
      </p:sp>
      <p:sp>
        <p:nvSpPr>
          <p:cNvPr id="15" name="Text 13"/>
          <p:cNvSpPr txBox="1"/>
          <p:nvPr/>
        </p:nvSpPr>
        <p:spPr>
          <a:xfrm>
            <a:off x="3840480" y="196596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5</a:t>
            </a:r>
            <a:endParaRPr lang="en-US" sz="1000" dirty="0"/>
          </a:p>
        </p:txBody>
      </p:sp>
      <p:sp>
        <p:nvSpPr>
          <p:cNvPr id="16" name="Shape 14"/>
          <p:cNvSpPr/>
          <p:nvPr/>
        </p:nvSpPr>
        <p:spPr>
          <a:xfrm>
            <a:off x="457200" y="2788920"/>
            <a:ext cx="457200" cy="457200"/>
          </a:xfrm>
          <a:prstGeom prst="ellipse">
            <a:avLst/>
          </a:prstGeom>
          <a:solidFill>
            <a:srgbClr val="1C2321"/>
          </a:solidFill>
          <a:ln w="12700">
            <a:solidFill>
              <a:srgbClr val="1C2321"/>
            </a:solidFill>
            <a:prstDash val="solid"/>
          </a:ln>
        </p:spPr>
      </p:sp>
      <p:sp>
        <p:nvSpPr>
          <p:cNvPr id="17" name="Text 15"/>
          <p:cNvSpPr txBox="1"/>
          <p:nvPr/>
        </p:nvSpPr>
        <p:spPr>
          <a:xfrm>
            <a:off x="457200" y="278892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097280" y="274320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Cách phần mềm quyết định</a:t>
            </a:r>
            <a:endParaRPr lang="en-US" sz="1500" dirty="0"/>
          </a:p>
        </p:txBody>
      </p:sp>
      <p:sp>
        <p:nvSpPr>
          <p:cNvPr id="19" name="Text 17"/>
          <p:cNvSpPr txBox="1"/>
          <p:nvPr/>
        </p:nvSpPr>
        <p:spPr>
          <a:xfrm>
            <a:off x="1097280" y="303580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Năm cơ chế, hai tầng xếp hạng</a:t>
            </a:r>
            <a:endParaRPr lang="en-US" sz="1100" dirty="0"/>
          </a:p>
        </p:txBody>
      </p:sp>
      <p:sp>
        <p:nvSpPr>
          <p:cNvPr id="20" name="Text 18"/>
          <p:cNvSpPr txBox="1"/>
          <p:nvPr/>
        </p:nvSpPr>
        <p:spPr>
          <a:xfrm>
            <a:off x="1097280" y="325526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4.2.2</a:t>
            </a:r>
            <a:endParaRPr lang="en-US" sz="900" dirty="0"/>
          </a:p>
        </p:txBody>
      </p:sp>
      <p:sp>
        <p:nvSpPr>
          <p:cNvPr id="21" name="Text 19"/>
          <p:cNvSpPr txBox="1"/>
          <p:nvPr/>
        </p:nvSpPr>
        <p:spPr>
          <a:xfrm>
            <a:off x="3840480" y="274320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6</a:t>
            </a:r>
            <a:endParaRPr lang="en-US" sz="1000" dirty="0"/>
          </a:p>
        </p:txBody>
      </p:sp>
      <p:sp>
        <p:nvSpPr>
          <p:cNvPr id="22" name="Shape 20"/>
          <p:cNvSpPr/>
          <p:nvPr/>
        </p:nvSpPr>
        <p:spPr>
          <a:xfrm>
            <a:off x="457200" y="3566160"/>
            <a:ext cx="457200" cy="457200"/>
          </a:xfrm>
          <a:prstGeom prst="ellipse">
            <a:avLst/>
          </a:prstGeom>
          <a:solidFill>
            <a:srgbClr val="1C2321"/>
          </a:solidFill>
          <a:ln w="12700">
            <a:solidFill>
              <a:srgbClr val="1C2321"/>
            </a:solidFill>
            <a:prstDash val="solid"/>
          </a:ln>
        </p:spPr>
      </p:sp>
      <p:sp>
        <p:nvSpPr>
          <p:cNvPr id="23" name="Text 21"/>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1097280" y="352044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Vận hành và kết quả</a:t>
            </a:r>
            <a:endParaRPr lang="en-US" sz="1500" dirty="0"/>
          </a:p>
        </p:txBody>
      </p:sp>
      <p:sp>
        <p:nvSpPr>
          <p:cNvPr id="25" name="Text 23"/>
          <p:cNvSpPr txBox="1"/>
          <p:nvPr/>
        </p:nvSpPr>
        <p:spPr>
          <a:xfrm>
            <a:off x="1097280" y="381304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Năm bước sử dụng, màn hình kết quả</a:t>
            </a:r>
            <a:endParaRPr lang="en-US" sz="1100" dirty="0"/>
          </a:p>
        </p:txBody>
      </p:sp>
      <p:sp>
        <p:nvSpPr>
          <p:cNvPr id="26" name="Text 24"/>
          <p:cNvSpPr txBox="1"/>
          <p:nvPr/>
        </p:nvSpPr>
        <p:spPr>
          <a:xfrm>
            <a:off x="1097280" y="403250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4.2.2.6</a:t>
            </a:r>
            <a:endParaRPr lang="en-US" sz="900" dirty="0"/>
          </a:p>
        </p:txBody>
      </p:sp>
      <p:sp>
        <p:nvSpPr>
          <p:cNvPr id="27" name="Text 25"/>
          <p:cNvSpPr txBox="1"/>
          <p:nvPr/>
        </p:nvSpPr>
        <p:spPr>
          <a:xfrm>
            <a:off x="3840480" y="352044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8</a:t>
            </a:r>
            <a:endParaRPr lang="en-US" sz="1000" dirty="0"/>
          </a:p>
        </p:txBody>
      </p:sp>
      <p:sp>
        <p:nvSpPr>
          <p:cNvPr id="28" name="Shape 26"/>
          <p:cNvSpPr/>
          <p:nvPr/>
        </p:nvSpPr>
        <p:spPr>
          <a:xfrm>
            <a:off x="4663440" y="1234440"/>
            <a:ext cx="457200" cy="457200"/>
          </a:xfrm>
          <a:prstGeom prst="ellipse">
            <a:avLst/>
          </a:prstGeom>
          <a:solidFill>
            <a:srgbClr val="1C2321"/>
          </a:solidFill>
          <a:ln w="12700">
            <a:solidFill>
              <a:srgbClr val="1C2321"/>
            </a:solidFill>
            <a:prstDash val="solid"/>
          </a:ln>
        </p:spPr>
      </p:sp>
      <p:sp>
        <p:nvSpPr>
          <p:cNvPr id="29" name="Text 27"/>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5</a:t>
            </a:r>
            <a:endParaRPr lang="en-US" sz="1600" dirty="0"/>
          </a:p>
        </p:txBody>
      </p:sp>
      <p:sp>
        <p:nvSpPr>
          <p:cNvPr id="30" name="Text 28"/>
          <p:cNvSpPr txBox="1"/>
          <p:nvPr/>
        </p:nvSpPr>
        <p:spPr>
          <a:xfrm>
            <a:off x="5303520" y="118872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Chạy thử và độ tin cậy</a:t>
            </a:r>
            <a:endParaRPr lang="en-US" sz="1500" dirty="0"/>
          </a:p>
        </p:txBody>
      </p:sp>
      <p:sp>
        <p:nvSpPr>
          <p:cNvPr id="31" name="Text 29"/>
          <p:cNvSpPr txBox="1"/>
          <p:nvPr/>
        </p:nvSpPr>
        <p:spPr>
          <a:xfrm>
            <a:off x="5303520" y="148132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200 học sinh 6 buổi, thử tải tới 5 000 học sinh</a:t>
            </a:r>
            <a:endParaRPr lang="en-US" sz="1100" dirty="0"/>
          </a:p>
        </p:txBody>
      </p:sp>
      <p:sp>
        <p:nvSpPr>
          <p:cNvPr id="32" name="Text 30"/>
          <p:cNvSpPr txBox="1"/>
          <p:nvPr/>
        </p:nvSpPr>
        <p:spPr>
          <a:xfrm>
            <a:off x="5303520" y="170078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4.3</a:t>
            </a:r>
            <a:endParaRPr lang="en-US" sz="900" dirty="0"/>
          </a:p>
        </p:txBody>
      </p:sp>
      <p:sp>
        <p:nvSpPr>
          <p:cNvPr id="33" name="Text 31"/>
          <p:cNvSpPr txBox="1"/>
          <p:nvPr/>
        </p:nvSpPr>
        <p:spPr>
          <a:xfrm>
            <a:off x="8046720" y="118872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10</a:t>
            </a:r>
            <a:endParaRPr lang="en-US" sz="1000" dirty="0"/>
          </a:p>
        </p:txBody>
      </p:sp>
      <p:sp>
        <p:nvSpPr>
          <p:cNvPr id="34" name="Shape 32"/>
          <p:cNvSpPr/>
          <p:nvPr/>
        </p:nvSpPr>
        <p:spPr>
          <a:xfrm>
            <a:off x="4663440" y="2011680"/>
            <a:ext cx="457200" cy="457200"/>
          </a:xfrm>
          <a:prstGeom prst="ellipse">
            <a:avLst/>
          </a:prstGeom>
          <a:solidFill>
            <a:srgbClr val="1C2321"/>
          </a:solidFill>
          <a:ln w="12700">
            <a:solidFill>
              <a:srgbClr val="1C2321"/>
            </a:solidFill>
            <a:prstDash val="solid"/>
          </a:ln>
        </p:spPr>
      </p:sp>
      <p:sp>
        <p:nvSpPr>
          <p:cNvPr id="35" name="Text 33"/>
          <p:cNvSpPr txBox="1"/>
          <p:nvPr/>
        </p:nvSpPr>
        <p:spPr>
          <a:xfrm>
            <a:off x="4663440" y="201168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6</a:t>
            </a:r>
            <a:endParaRPr lang="en-US" sz="1600" dirty="0"/>
          </a:p>
        </p:txBody>
      </p:sp>
      <p:sp>
        <p:nvSpPr>
          <p:cNvPr id="36" name="Text 34"/>
          <p:cNvSpPr txBox="1"/>
          <p:nvPr/>
        </p:nvSpPr>
        <p:spPr>
          <a:xfrm>
            <a:off x="5303520" y="196596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Tính năng khác</a:t>
            </a:r>
            <a:endParaRPr lang="en-US" sz="1500" dirty="0"/>
          </a:p>
        </p:txBody>
      </p:sp>
      <p:sp>
        <p:nvSpPr>
          <p:cNvPr id="37" name="Text 35"/>
          <p:cNvSpPr txBox="1"/>
          <p:nvPr/>
        </p:nvSpPr>
        <p:spPr>
          <a:xfrm>
            <a:off x="5303520" y="225856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Nhiều buổi, nhập tại chỗ, song ngữ</a:t>
            </a:r>
            <a:endParaRPr lang="en-US" sz="1100" dirty="0"/>
          </a:p>
        </p:txBody>
      </p:sp>
      <p:sp>
        <p:nvSpPr>
          <p:cNvPr id="38" name="Text 36"/>
          <p:cNvSpPr txBox="1"/>
          <p:nvPr/>
        </p:nvSpPr>
        <p:spPr>
          <a:xfrm>
            <a:off x="5303520" y="247802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Báo cáo Sơ đồ 3</a:t>
            </a:r>
            <a:endParaRPr lang="en-US" sz="900" dirty="0"/>
          </a:p>
        </p:txBody>
      </p:sp>
      <p:sp>
        <p:nvSpPr>
          <p:cNvPr id="39" name="Text 37"/>
          <p:cNvSpPr txBox="1"/>
          <p:nvPr/>
        </p:nvSpPr>
        <p:spPr>
          <a:xfrm>
            <a:off x="8046720" y="196596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13</a:t>
            </a:r>
            <a:endParaRPr lang="en-US" sz="1000" dirty="0"/>
          </a:p>
        </p:txBody>
      </p:sp>
      <p:sp>
        <p:nvSpPr>
          <p:cNvPr id="40" name="Shape 38"/>
          <p:cNvSpPr/>
          <p:nvPr/>
        </p:nvSpPr>
        <p:spPr>
          <a:xfrm>
            <a:off x="4663440" y="2788920"/>
            <a:ext cx="457200" cy="457200"/>
          </a:xfrm>
          <a:prstGeom prst="ellipse">
            <a:avLst/>
          </a:prstGeom>
          <a:solidFill>
            <a:srgbClr val="1C2321"/>
          </a:solidFill>
          <a:ln w="12700">
            <a:solidFill>
              <a:srgbClr val="1C2321"/>
            </a:solidFill>
            <a:prstDash val="solid"/>
          </a:ln>
        </p:spPr>
      </p:sp>
      <p:sp>
        <p:nvSpPr>
          <p:cNvPr id="41" name="Text 39"/>
          <p:cNvSpPr txBox="1"/>
          <p:nvPr/>
        </p:nvSpPr>
        <p:spPr>
          <a:xfrm>
            <a:off x="4663440" y="2788920"/>
            <a:ext cx="457200" cy="457200"/>
          </a:xfrm>
          <a:prstGeom prst="rect">
            <a:avLst/>
          </a:prstGeom>
          <a:noFill/>
          <a:ln/>
        </p:spPr>
        <p:txBody>
          <a:bodyPr wrap="square" lIns="0" tIns="0" rIns="0" bIns="0" rtlCol="0" anchor="ctr"/>
          <a:lstStyle/>
          <a:p>
            <a:pPr algn="ctr" indent="0" marL="0">
              <a:buNone/>
            </a:pPr>
            <a:r>
              <a:rPr lang="en-US" sz="1600" b="1" dirty="0">
                <a:solidFill>
                  <a:srgbClr val="C98A1F"/>
                </a:solidFill>
                <a:latin typeface="Cambria" pitchFamily="34" charset="0"/>
                <a:ea typeface="Cambria" pitchFamily="34" charset="-122"/>
                <a:cs typeface="Cambria" pitchFamily="34" charset="-120"/>
              </a:rPr>
              <a:t>7</a:t>
            </a:r>
            <a:endParaRPr lang="en-US" sz="1600" dirty="0"/>
          </a:p>
        </p:txBody>
      </p:sp>
      <p:sp>
        <p:nvSpPr>
          <p:cNvPr id="42" name="Text 40"/>
          <p:cNvSpPr txBox="1"/>
          <p:nvPr/>
        </p:nvSpPr>
        <p:spPr>
          <a:xfrm>
            <a:off x="5303520" y="2743200"/>
            <a:ext cx="2743200" cy="292608"/>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Đề nghị Ban Giám hiệu</a:t>
            </a:r>
            <a:endParaRPr lang="en-US" sz="1500" dirty="0"/>
          </a:p>
        </p:txBody>
      </p:sp>
      <p:sp>
        <p:nvSpPr>
          <p:cNvPr id="43" name="Text 41"/>
          <p:cNvSpPr txBox="1"/>
          <p:nvPr/>
        </p:nvSpPr>
        <p:spPr>
          <a:xfrm>
            <a:off x="5303520" y="3035808"/>
            <a:ext cx="2743200" cy="228600"/>
          </a:xfrm>
          <a:prstGeom prst="rect">
            <a:avLst/>
          </a:prstGeom>
          <a:noFill/>
          <a:ln/>
        </p:spPr>
        <p:txBody>
          <a:bodyPr wrap="square" lIns="0" tIns="0" rIns="0" bIns="0" rtlCol="0" anchor="ctr"/>
          <a:lstStyle/>
          <a:p>
            <a:pPr indent="0" marL="0">
              <a:buNone/>
            </a:pPr>
            <a:r>
              <a:rPr lang="en-US" sz="1100" dirty="0">
                <a:solidFill>
                  <a:srgbClr val="5B6570"/>
                </a:solidFill>
                <a:latin typeface="Calibri" pitchFamily="34" charset="0"/>
                <a:ea typeface="Calibri" pitchFamily="34" charset="-122"/>
                <a:cs typeface="Calibri" pitchFamily="34" charset="-120"/>
              </a:rPr>
              <a:t>Ba việc cần quyết định để chạy thử</a:t>
            </a:r>
            <a:endParaRPr lang="en-US" sz="1100" dirty="0"/>
          </a:p>
        </p:txBody>
      </p:sp>
      <p:sp>
        <p:nvSpPr>
          <p:cNvPr id="44" name="Text 42"/>
          <p:cNvSpPr txBox="1"/>
          <p:nvPr/>
        </p:nvSpPr>
        <p:spPr>
          <a:xfrm>
            <a:off x="5303520" y="3255264"/>
            <a:ext cx="3383280" cy="182880"/>
          </a:xfrm>
          <a:prstGeom prst="rect">
            <a:avLst/>
          </a:prstGeom>
          <a:noFill/>
          <a:ln/>
        </p:spPr>
        <p:txBody>
          <a:bodyPr wrap="square" lIns="0" tIns="0" rIns="0" bIns="0" rtlCol="0" anchor="ctr"/>
          <a:lstStyle/>
          <a:p>
            <a:pPr indent="0" marL="0">
              <a:buNone/>
            </a:pPr>
            <a:r>
              <a:rPr lang="en-US" sz="900" i="1" dirty="0">
                <a:solidFill>
                  <a:srgbClr val="3F6B52"/>
                </a:solidFill>
                <a:latin typeface="Calibri" pitchFamily="34" charset="0"/>
                <a:ea typeface="Calibri" pitchFamily="34" charset="-122"/>
                <a:cs typeface="Calibri" pitchFamily="34" charset="-120"/>
              </a:rPr>
              <a:t>Chỉ có trong bài trình bày</a:t>
            </a:r>
            <a:endParaRPr lang="en-US" sz="900" dirty="0"/>
          </a:p>
        </p:txBody>
      </p:sp>
      <p:sp>
        <p:nvSpPr>
          <p:cNvPr id="45" name="Text 43"/>
          <p:cNvSpPr txBox="1"/>
          <p:nvPr/>
        </p:nvSpPr>
        <p:spPr>
          <a:xfrm>
            <a:off x="8046720" y="2743200"/>
            <a:ext cx="640080" cy="292608"/>
          </a:xfrm>
          <a:prstGeom prst="rect">
            <a:avLst/>
          </a:prstGeom>
          <a:noFill/>
          <a:ln/>
        </p:spPr>
        <p:txBody>
          <a:bodyPr wrap="square" lIns="0" tIns="0" rIns="0" bIns="0" rtlCol="0" anchor="ctr"/>
          <a:lstStyle/>
          <a:p>
            <a:pPr algn="r" indent="0" marL="0">
              <a:buNone/>
            </a:pPr>
            <a:r>
              <a:rPr lang="en-US" sz="1000" b="1" dirty="0">
                <a:solidFill>
                  <a:srgbClr val="C98A1F"/>
                </a:solidFill>
                <a:latin typeface="Calibri" pitchFamily="34" charset="0"/>
                <a:ea typeface="Calibri" pitchFamily="34" charset="-122"/>
                <a:cs typeface="Calibri" pitchFamily="34" charset="-120"/>
              </a:rPr>
              <a:t>Trang 14</a:t>
            </a:r>
            <a:endParaRPr lang="en-US" sz="1000" dirty="0"/>
          </a:p>
        </p:txBody>
      </p:sp>
      <p:sp>
        <p:nvSpPr>
          <p:cNvPr id="46" name="Text 4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BÀI TOÁN</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Nhiều CLB, ít chỗ: ai sẽ vào đâu?</a:t>
            </a:r>
            <a:endParaRPr lang="en-US" sz="3000" dirty="0"/>
          </a:p>
        </p:txBody>
      </p:sp>
      <p:sp>
        <p:nvSpPr>
          <p:cNvPr id="4" name="Shape 2"/>
          <p:cNvSpPr/>
          <p:nvPr/>
        </p:nvSpPr>
        <p:spPr>
          <a:xfrm>
            <a:off x="457200" y="1188720"/>
            <a:ext cx="4023360" cy="1554480"/>
          </a:xfrm>
          <a:prstGeom prst="roundRect">
            <a:avLst>
              <a:gd name="adj" fmla="val 4706"/>
            </a:avLst>
          </a:prstGeom>
          <a:solidFill>
            <a:srgbClr val="FFFFFF"/>
          </a:solidFill>
          <a:ln w="9525">
            <a:solidFill>
              <a:srgbClr val="DBDCD5"/>
            </a:solidFill>
            <a:prstDash val="solid"/>
          </a:ln>
        </p:spPr>
      </p:sp>
      <p:sp>
        <p:nvSpPr>
          <p:cNvPr id="5" name="Shape 3"/>
          <p:cNvSpPr/>
          <p:nvPr/>
        </p:nvSpPr>
        <p:spPr>
          <a:xfrm>
            <a:off x="685800" y="1463040"/>
            <a:ext cx="548640" cy="548640"/>
          </a:xfrm>
          <a:prstGeom prst="ellipse">
            <a:avLst/>
          </a:prstGeom>
          <a:solidFill>
            <a:srgbClr val="F1DFB8"/>
          </a:solidFill>
          <a:ln w="12700">
            <a:solidFill>
              <a:srgbClr val="F1DFB8"/>
            </a:solidFill>
            <a:prstDash val="solid"/>
          </a:ln>
        </p:spPr>
      </p:sp>
      <p:pic>
        <p:nvPicPr>
          <p:cNvPr id="6" name="Image 0" descr="preencoded.png">    </p:cNvPr>
          <p:cNvPicPr>
            <a:picLocks noChangeAspect="1"/>
          </p:cNvPicPr>
          <p:nvPr/>
        </p:nvPicPr>
        <p:blipFill>
          <a:blip r:embed="rId1"/>
          <a:stretch>
            <a:fillRect/>
          </a:stretch>
        </p:blipFill>
        <p:spPr>
          <a:xfrm>
            <a:off x="828446" y="1605686"/>
            <a:ext cx="263347" cy="263347"/>
          </a:xfrm>
          <a:prstGeom prst="rect">
            <a:avLst/>
          </a:prstGeom>
        </p:spPr>
      </p:pic>
      <p:sp>
        <p:nvSpPr>
          <p:cNvPr id="7" name="Text 4"/>
          <p:cNvSpPr txBox="1"/>
          <p:nvPr/>
        </p:nvSpPr>
        <p:spPr>
          <a:xfrm>
            <a:off x="1417320" y="141732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Chỗ ít hơn số người muốn vào</a:t>
            </a:r>
            <a:endParaRPr lang="en-US" sz="1500" dirty="0"/>
          </a:p>
        </p:txBody>
      </p:sp>
      <p:sp>
        <p:nvSpPr>
          <p:cNvPr id="8" name="Text 5"/>
          <p:cNvSpPr txBox="1"/>
          <p:nvPr/>
        </p:nvSpPr>
        <p:spPr>
          <a:xfrm>
            <a:off x="1417320" y="184708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Những CLB đông người đăng ký buộc phải từ chối bớt. Vì vậy cần một cách chọn mà học sinh và phụ huynh thấy hợp lý.</a:t>
            </a:r>
            <a:endParaRPr lang="en-US" sz="1200" dirty="0"/>
          </a:p>
        </p:txBody>
      </p:sp>
      <p:sp>
        <p:nvSpPr>
          <p:cNvPr id="9" name="Shape 6"/>
          <p:cNvSpPr/>
          <p:nvPr/>
        </p:nvSpPr>
        <p:spPr>
          <a:xfrm>
            <a:off x="4663440" y="1188720"/>
            <a:ext cx="4023360" cy="1554480"/>
          </a:xfrm>
          <a:prstGeom prst="roundRect">
            <a:avLst>
              <a:gd name="adj" fmla="val 4706"/>
            </a:avLst>
          </a:prstGeom>
          <a:solidFill>
            <a:srgbClr val="FFFFFF"/>
          </a:solidFill>
          <a:ln w="9525">
            <a:solidFill>
              <a:srgbClr val="DBDCD5"/>
            </a:solidFill>
            <a:prstDash val="solid"/>
          </a:ln>
        </p:spPr>
      </p:sp>
      <p:sp>
        <p:nvSpPr>
          <p:cNvPr id="10" name="Shape 7"/>
          <p:cNvSpPr/>
          <p:nvPr/>
        </p:nvSpPr>
        <p:spPr>
          <a:xfrm>
            <a:off x="4892040" y="1463040"/>
            <a:ext cx="548640" cy="548640"/>
          </a:xfrm>
          <a:prstGeom prst="ellipse">
            <a:avLst/>
          </a:prstGeom>
          <a:solidFill>
            <a:srgbClr val="F1DFB8"/>
          </a:solidFill>
          <a:ln w="12700">
            <a:solidFill>
              <a:srgbClr val="F1DFB8"/>
            </a:solidFill>
            <a:prstDash val="solid"/>
          </a:ln>
        </p:spPr>
      </p:sp>
      <p:pic>
        <p:nvPicPr>
          <p:cNvPr id="11" name="Image 1" descr="preencoded.png">    </p:cNvPr>
          <p:cNvPicPr>
            <a:picLocks noChangeAspect="1"/>
          </p:cNvPicPr>
          <p:nvPr/>
        </p:nvPicPr>
        <p:blipFill>
          <a:blip r:embed="rId2"/>
          <a:stretch>
            <a:fillRect/>
          </a:stretch>
        </p:blipFill>
        <p:spPr>
          <a:xfrm>
            <a:off x="5034686" y="1605686"/>
            <a:ext cx="263347" cy="263347"/>
          </a:xfrm>
          <a:prstGeom prst="rect">
            <a:avLst/>
          </a:prstGeom>
        </p:spPr>
      </p:pic>
      <p:sp>
        <p:nvSpPr>
          <p:cNvPr id="12" name="Text 8"/>
          <p:cNvSpPr txBox="1"/>
          <p:nvPr/>
        </p:nvSpPr>
        <p:spPr>
          <a:xfrm>
            <a:off x="5623560" y="141732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Có CLB thi, có CLB không</a:t>
            </a:r>
            <a:endParaRPr lang="en-US" sz="1500" dirty="0"/>
          </a:p>
        </p:txBody>
      </p:sp>
      <p:sp>
        <p:nvSpPr>
          <p:cNvPr id="13" name="Text 9"/>
          <p:cNvSpPr txBox="1"/>
          <p:nvPr/>
        </p:nvSpPr>
        <p:spPr>
          <a:xfrm>
            <a:off x="5623560" y="184708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Một số CLB tổ chức thi tuyển, số khác thì không. Cách xét thông thường khó xử lý cả hai loại trong cùng một đợt.</a:t>
            </a:r>
            <a:endParaRPr lang="en-US" sz="1200" dirty="0"/>
          </a:p>
        </p:txBody>
      </p:sp>
      <p:sp>
        <p:nvSpPr>
          <p:cNvPr id="14" name="Shape 10"/>
          <p:cNvSpPr/>
          <p:nvPr/>
        </p:nvSpPr>
        <p:spPr>
          <a:xfrm>
            <a:off x="457200" y="2971800"/>
            <a:ext cx="4023360" cy="1554480"/>
          </a:xfrm>
          <a:prstGeom prst="roundRect">
            <a:avLst>
              <a:gd name="adj" fmla="val 4706"/>
            </a:avLst>
          </a:prstGeom>
          <a:solidFill>
            <a:srgbClr val="FFFFFF"/>
          </a:solidFill>
          <a:ln w="9525">
            <a:solidFill>
              <a:srgbClr val="DBDCD5"/>
            </a:solidFill>
            <a:prstDash val="solid"/>
          </a:ln>
        </p:spPr>
      </p:sp>
      <p:sp>
        <p:nvSpPr>
          <p:cNvPr id="15" name="Shape 11"/>
          <p:cNvSpPr/>
          <p:nvPr/>
        </p:nvSpPr>
        <p:spPr>
          <a:xfrm>
            <a:off x="685800" y="3246120"/>
            <a:ext cx="548640" cy="548640"/>
          </a:xfrm>
          <a:prstGeom prst="ellipse">
            <a:avLst/>
          </a:prstGeom>
          <a:solidFill>
            <a:srgbClr val="F1DFB8"/>
          </a:solidFill>
          <a:ln w="12700">
            <a:solidFill>
              <a:srgbClr val="F1DFB8"/>
            </a:solidFill>
            <a:prstDash val="solid"/>
          </a:ln>
        </p:spPr>
      </p:sp>
      <p:pic>
        <p:nvPicPr>
          <p:cNvPr id="16" name="Image 2" descr="preencoded.png">    </p:cNvPr>
          <p:cNvPicPr>
            <a:picLocks noChangeAspect="1"/>
          </p:cNvPicPr>
          <p:nvPr/>
        </p:nvPicPr>
        <p:blipFill>
          <a:blip r:embed="rId3"/>
          <a:stretch>
            <a:fillRect/>
          </a:stretch>
        </p:blipFill>
        <p:spPr>
          <a:xfrm>
            <a:off x="828446" y="3388766"/>
            <a:ext cx="263347" cy="263347"/>
          </a:xfrm>
          <a:prstGeom prst="rect">
            <a:avLst/>
          </a:prstGeom>
        </p:spPr>
      </p:pic>
      <p:sp>
        <p:nvSpPr>
          <p:cNvPr id="17" name="Text 12"/>
          <p:cNvSpPr txBox="1"/>
          <p:nvPr/>
        </p:nvSpPr>
        <p:spPr>
          <a:xfrm>
            <a:off x="1417320" y="320040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Giữ chỗ cho diện ưu tiên</a:t>
            </a:r>
            <a:endParaRPr lang="en-US" sz="1500" dirty="0"/>
          </a:p>
        </p:txBody>
      </p:sp>
      <p:sp>
        <p:nvSpPr>
          <p:cNvPr id="18" name="Text 13"/>
          <p:cNvSpPr txBox="1"/>
          <p:nvPr/>
        </p:nvSpPr>
        <p:spPr>
          <a:xfrm>
            <a:off x="1417320" y="363016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Nhà trường có thể muốn dành một số chỗ cho học sinh diện chính sách hoặc học sinh khối 10.</a:t>
            </a:r>
            <a:endParaRPr lang="en-US" sz="1200" dirty="0"/>
          </a:p>
        </p:txBody>
      </p:sp>
      <p:sp>
        <p:nvSpPr>
          <p:cNvPr id="19" name="Shape 14"/>
          <p:cNvSpPr/>
          <p:nvPr/>
        </p:nvSpPr>
        <p:spPr>
          <a:xfrm>
            <a:off x="4663440" y="2971800"/>
            <a:ext cx="4023360" cy="1554480"/>
          </a:xfrm>
          <a:prstGeom prst="roundRect">
            <a:avLst>
              <a:gd name="adj" fmla="val 4706"/>
            </a:avLst>
          </a:prstGeom>
          <a:solidFill>
            <a:srgbClr val="FFFFFF"/>
          </a:solidFill>
          <a:ln w="9525">
            <a:solidFill>
              <a:srgbClr val="DBDCD5"/>
            </a:solidFill>
            <a:prstDash val="solid"/>
          </a:ln>
        </p:spPr>
      </p:sp>
      <p:sp>
        <p:nvSpPr>
          <p:cNvPr id="20" name="Shape 15"/>
          <p:cNvSpPr/>
          <p:nvPr/>
        </p:nvSpPr>
        <p:spPr>
          <a:xfrm>
            <a:off x="4892040" y="3246120"/>
            <a:ext cx="548640" cy="548640"/>
          </a:xfrm>
          <a:prstGeom prst="ellipse">
            <a:avLst/>
          </a:prstGeom>
          <a:solidFill>
            <a:srgbClr val="F3DCD9"/>
          </a:solidFill>
          <a:ln w="12700">
            <a:solidFill>
              <a:srgbClr val="F3DCD9"/>
            </a:solidFill>
            <a:prstDash val="solid"/>
          </a:ln>
        </p:spPr>
      </p:sp>
      <p:pic>
        <p:nvPicPr>
          <p:cNvPr id="21" name="Image 3" descr="preencoded.png">    </p:cNvPr>
          <p:cNvPicPr>
            <a:picLocks noChangeAspect="1"/>
          </p:cNvPicPr>
          <p:nvPr/>
        </p:nvPicPr>
        <p:blipFill>
          <a:blip r:embed="rId4"/>
          <a:stretch>
            <a:fillRect/>
          </a:stretch>
        </p:blipFill>
        <p:spPr>
          <a:xfrm>
            <a:off x="5034686" y="3388766"/>
            <a:ext cx="263347" cy="263347"/>
          </a:xfrm>
          <a:prstGeom prst="rect">
            <a:avLst/>
          </a:prstGeom>
        </p:spPr>
      </p:pic>
      <p:sp>
        <p:nvSpPr>
          <p:cNvPr id="22" name="Text 16"/>
          <p:cNvSpPr txBox="1"/>
          <p:nvPr/>
        </p:nvSpPr>
        <p:spPr>
          <a:xfrm>
            <a:off x="5623560" y="3200400"/>
            <a:ext cx="2880360" cy="411480"/>
          </a:xfrm>
          <a:prstGeom prst="rect">
            <a:avLst/>
          </a:prstGeom>
          <a:noFill/>
          <a:ln/>
        </p:spPr>
        <p:txBody>
          <a:bodyPr wrap="square" lIns="0" tIns="0" rIns="0" bIns="0" rtlCol="0" anchor="t"/>
          <a:lstStyle/>
          <a:p>
            <a:pPr indent="0" marL="0">
              <a:buNone/>
            </a:pPr>
            <a:r>
              <a:rPr lang="en-US" sz="1500" b="1" dirty="0">
                <a:solidFill>
                  <a:srgbClr val="1C2321"/>
                </a:solidFill>
                <a:latin typeface="Calibri" pitchFamily="34" charset="0"/>
                <a:ea typeface="Calibri" pitchFamily="34" charset="-122"/>
                <a:cs typeface="Calibri" pitchFamily="34" charset="-120"/>
              </a:rPr>
              <a:t>Ai nộp trước được trước</a:t>
            </a:r>
            <a:endParaRPr lang="en-US" sz="1500" dirty="0"/>
          </a:p>
        </p:txBody>
      </p:sp>
      <p:sp>
        <p:nvSpPr>
          <p:cNvPr id="23" name="Text 17"/>
          <p:cNvSpPr txBox="1"/>
          <p:nvPr/>
        </p:nvSpPr>
        <p:spPr>
          <a:xfrm>
            <a:off x="5623560" y="3630168"/>
            <a:ext cx="2880360" cy="77724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xét theo thứ tự đăng ký, học sinh nộp sớm có lợi còn học sinh nộp muộn chịu thiệt, dù nguyện vọng và năng lực như nhau.</a:t>
            </a:r>
            <a:endParaRPr lang="en-US" sz="12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3</a:t>
            </a:r>
            <a:endParaRPr lang="en-US" sz="1000" dirty="0"/>
          </a:p>
        </p:txBody>
      </p:sp>
      <p:sp>
        <p:nvSpPr>
          <p:cNvPr id="25" name="Text 19"/>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2.2.2 Vấn đề nghiên cứu, 2.2.3 Nguyên nhân vấn đề</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BỐI CẢNH</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Thực tế tại trường và ba câu hỏi nghiên cứu</a:t>
            </a:r>
            <a:endParaRPr lang="en-US" sz="3000" dirty="0"/>
          </a:p>
        </p:txBody>
      </p:sp>
      <p:sp>
        <p:nvSpPr>
          <p:cNvPr id="4" name="Text 2"/>
          <p:cNvSpPr txBox="1"/>
          <p:nvPr/>
        </p:nvSpPr>
        <p:spPr>
          <a:xfrm>
            <a:off x="457200" y="1188720"/>
            <a:ext cx="3291840" cy="457200"/>
          </a:xfrm>
          <a:prstGeom prst="rect">
            <a:avLst/>
          </a:prstGeom>
          <a:noFill/>
          <a:ln/>
        </p:spPr>
        <p:txBody>
          <a:bodyPr wrap="square" lIns="0" tIns="0" rIns="0" bIns="0" rtlCol="0" anchor="ctr"/>
          <a:lstStyle/>
          <a:p>
            <a:pPr indent="0" marL="0">
              <a:buNone/>
            </a:pPr>
            <a:r>
              <a:rPr lang="en-US" sz="3000" b="1" dirty="0">
                <a:solidFill>
                  <a:srgbClr val="3F6B52"/>
                </a:solidFill>
                <a:latin typeface="Cambria" pitchFamily="34" charset="0"/>
                <a:ea typeface="Cambria" pitchFamily="34" charset="-122"/>
                <a:cs typeface="Cambria" pitchFamily="34" charset="-120"/>
              </a:rPr>
              <a:t>~800</a:t>
            </a:r>
            <a:endParaRPr lang="en-US" sz="3000" dirty="0"/>
          </a:p>
        </p:txBody>
      </p:sp>
      <p:sp>
        <p:nvSpPr>
          <p:cNvPr id="5" name="Text 3"/>
          <p:cNvSpPr txBox="1"/>
          <p:nvPr/>
        </p:nvSpPr>
        <p:spPr>
          <a:xfrm>
            <a:off x="457200" y="1645920"/>
            <a:ext cx="3291840" cy="3200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học sinh THCS và THPT tại cơ sở Hoàng Văn Thụ</a:t>
            </a:r>
            <a:endParaRPr lang="en-US" sz="1200" dirty="0"/>
          </a:p>
        </p:txBody>
      </p:sp>
      <p:sp>
        <p:nvSpPr>
          <p:cNvPr id="6" name="Text 4"/>
          <p:cNvSpPr txBox="1"/>
          <p:nvPr/>
        </p:nvSpPr>
        <p:spPr>
          <a:xfrm>
            <a:off x="457200" y="2148840"/>
            <a:ext cx="3291840" cy="457200"/>
          </a:xfrm>
          <a:prstGeom prst="rect">
            <a:avLst/>
          </a:prstGeom>
          <a:noFill/>
          <a:ln/>
        </p:spPr>
        <p:txBody>
          <a:bodyPr wrap="square" lIns="0" tIns="0" rIns="0" bIns="0" rtlCol="0" anchor="ctr"/>
          <a:lstStyle/>
          <a:p>
            <a:pPr indent="0" marL="0">
              <a:buNone/>
            </a:pPr>
            <a:r>
              <a:rPr lang="en-US" sz="3000" b="1" dirty="0">
                <a:solidFill>
                  <a:srgbClr val="3F6B52"/>
                </a:solidFill>
                <a:latin typeface="Cambria" pitchFamily="34" charset="0"/>
                <a:ea typeface="Cambria" pitchFamily="34" charset="-122"/>
                <a:cs typeface="Cambria" pitchFamily="34" charset="-120"/>
              </a:rPr>
              <a:t>~20</a:t>
            </a:r>
            <a:endParaRPr lang="en-US" sz="3000" dirty="0"/>
          </a:p>
        </p:txBody>
      </p:sp>
      <p:sp>
        <p:nvSpPr>
          <p:cNvPr id="7" name="Text 5"/>
          <p:cNvSpPr txBox="1"/>
          <p:nvPr/>
        </p:nvSpPr>
        <p:spPr>
          <a:xfrm>
            <a:off x="457200" y="2606040"/>
            <a:ext cx="3291840" cy="3200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câu lạc bộ ngoại khóa</a:t>
            </a:r>
            <a:endParaRPr lang="en-US" sz="1200" dirty="0"/>
          </a:p>
        </p:txBody>
      </p:sp>
      <p:sp>
        <p:nvSpPr>
          <p:cNvPr id="8" name="Text 6"/>
          <p:cNvSpPr txBox="1"/>
          <p:nvPr/>
        </p:nvSpPr>
        <p:spPr>
          <a:xfrm>
            <a:off x="457200" y="3108960"/>
            <a:ext cx="3291840" cy="457200"/>
          </a:xfrm>
          <a:prstGeom prst="rect">
            <a:avLst/>
          </a:prstGeom>
          <a:noFill/>
          <a:ln/>
        </p:spPr>
        <p:txBody>
          <a:bodyPr wrap="square" lIns="0" tIns="0" rIns="0" bIns="0" rtlCol="0" anchor="ctr"/>
          <a:lstStyle/>
          <a:p>
            <a:pPr indent="0" marL="0">
              <a:buNone/>
            </a:pPr>
            <a:r>
              <a:rPr lang="en-US" sz="2200" b="1" dirty="0">
                <a:solidFill>
                  <a:srgbClr val="B84A3E"/>
                </a:solidFill>
                <a:latin typeface="Cambria" pitchFamily="34" charset="0"/>
                <a:ea typeface="Cambria" pitchFamily="34" charset="-122"/>
                <a:cs typeface="Cambria" pitchFamily="34" charset="-120"/>
              </a:rPr>
              <a:t>Thứ tự đăng ký</a:t>
            </a:r>
            <a:endParaRPr lang="en-US" sz="2200" dirty="0"/>
          </a:p>
        </p:txBody>
      </p:sp>
      <p:sp>
        <p:nvSpPr>
          <p:cNvPr id="9" name="Text 7"/>
          <p:cNvSpPr txBox="1"/>
          <p:nvPr/>
        </p:nvSpPr>
        <p:spPr>
          <a:xfrm>
            <a:off x="457200" y="3566160"/>
            <a:ext cx="3291840" cy="320040"/>
          </a:xfrm>
          <a:prstGeom prst="rect">
            <a:avLst/>
          </a:prstGeom>
          <a:noFill/>
          <a:ln/>
        </p:spPr>
        <p:txBody>
          <a:bodyPr wrap="square" lIns="0" tIns="0" rIns="0" bIns="0" rtlCol="0" anchor="ctr"/>
          <a:lstStyle/>
          <a:p>
            <a:pPr indent="0" marL="0">
              <a:buNone/>
            </a:pPr>
            <a:r>
              <a:rPr lang="en-US" sz="1200" dirty="0">
                <a:solidFill>
                  <a:srgbClr val="3A423F"/>
                </a:solidFill>
                <a:latin typeface="Calibri" pitchFamily="34" charset="0"/>
                <a:ea typeface="Calibri" pitchFamily="34" charset="-122"/>
                <a:cs typeface="Calibri" pitchFamily="34" charset="-120"/>
              </a:rPr>
              <a:t>là tiêu chí xếp chỗ hiện nay</a:t>
            </a:r>
            <a:endParaRPr lang="en-US" sz="1200" dirty="0"/>
          </a:p>
        </p:txBody>
      </p:sp>
      <p:sp>
        <p:nvSpPr>
          <p:cNvPr id="10" name="Shape 8"/>
          <p:cNvSpPr/>
          <p:nvPr/>
        </p:nvSpPr>
        <p:spPr>
          <a:xfrm>
            <a:off x="4069080" y="1188720"/>
            <a:ext cx="4617720" cy="3429000"/>
          </a:xfrm>
          <a:prstGeom prst="roundRect">
            <a:avLst>
              <a:gd name="adj" fmla="val 2133"/>
            </a:avLst>
          </a:prstGeom>
          <a:solidFill>
            <a:srgbClr val="FFFFFF"/>
          </a:solidFill>
          <a:ln w="9525">
            <a:solidFill>
              <a:srgbClr val="DBDCD5"/>
            </a:solidFill>
            <a:prstDash val="solid"/>
          </a:ln>
        </p:spPr>
      </p:sp>
      <p:sp>
        <p:nvSpPr>
          <p:cNvPr id="11" name="Text 9"/>
          <p:cNvSpPr txBox="1"/>
          <p:nvPr/>
        </p:nvSpPr>
        <p:spPr>
          <a:xfrm>
            <a:off x="4343400" y="1325880"/>
            <a:ext cx="4114800" cy="32004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Câu hỏi nghiên cứu</a:t>
            </a:r>
            <a:endParaRPr lang="en-US" sz="1400" dirty="0"/>
          </a:p>
        </p:txBody>
      </p:sp>
      <p:sp>
        <p:nvSpPr>
          <p:cNvPr id="12" name="Shape 10"/>
          <p:cNvSpPr/>
          <p:nvPr/>
        </p:nvSpPr>
        <p:spPr>
          <a:xfrm>
            <a:off x="4343400" y="1783080"/>
            <a:ext cx="365760" cy="365760"/>
          </a:xfrm>
          <a:prstGeom prst="ellipse">
            <a:avLst/>
          </a:prstGeom>
          <a:solidFill>
            <a:srgbClr val="1C2321"/>
          </a:solidFill>
          <a:ln w="12700">
            <a:solidFill>
              <a:srgbClr val="1C2321"/>
            </a:solidFill>
            <a:prstDash val="solid"/>
          </a:ln>
        </p:spPr>
      </p:sp>
      <p:sp>
        <p:nvSpPr>
          <p:cNvPr id="13" name="Text 11"/>
          <p:cNvSpPr txBox="1"/>
          <p:nvPr/>
        </p:nvSpPr>
        <p:spPr>
          <a:xfrm>
            <a:off x="4343400" y="1783080"/>
            <a:ext cx="365760" cy="365760"/>
          </a:xfrm>
          <a:prstGeom prst="rect">
            <a:avLst/>
          </a:prstGeom>
          <a:noFill/>
          <a:ln/>
        </p:spPr>
        <p:txBody>
          <a:bodyPr wrap="square" lIns="0" tIns="0" rIns="0" bIns="0" rtlCol="0" anchor="ctr"/>
          <a:lstStyle/>
          <a:p>
            <a:pPr algn="ctr" indent="0" marL="0">
              <a:buNone/>
            </a:pPr>
            <a:r>
              <a:rPr lang="en-US" sz="1300" b="1" dirty="0">
                <a:solidFill>
                  <a:srgbClr val="C98A1F"/>
                </a:solidFill>
                <a:latin typeface="Cambria" pitchFamily="34" charset="0"/>
                <a:ea typeface="Cambria" pitchFamily="34" charset="-122"/>
                <a:cs typeface="Cambria" pitchFamily="34" charset="-120"/>
              </a:rPr>
              <a:t>1</a:t>
            </a:r>
            <a:endParaRPr lang="en-US" sz="1300" dirty="0"/>
          </a:p>
        </p:txBody>
      </p:sp>
      <p:sp>
        <p:nvSpPr>
          <p:cNvPr id="14" name="Text 12"/>
          <p:cNvSpPr txBox="1"/>
          <p:nvPr/>
        </p:nvSpPr>
        <p:spPr>
          <a:xfrm>
            <a:off x="4846320" y="1755648"/>
            <a:ext cx="3657600" cy="502920"/>
          </a:xfrm>
          <a:prstGeom prst="rect">
            <a:avLst/>
          </a:prstGeom>
          <a:noFill/>
          <a:ln/>
        </p:spPr>
        <p:txBody>
          <a:bodyPr wrap="square" lIns="0" tIns="0" rIns="0" bIns="0" rtlCol="0" anchor="t"/>
          <a:lstStyle/>
          <a:p>
            <a:pPr indent="0" marL="0">
              <a:buNone/>
            </a:pPr>
            <a:r>
              <a:rPr lang="en-US" sz="1200" dirty="0">
                <a:solidFill>
                  <a:srgbClr val="1C2321"/>
                </a:solidFill>
                <a:latin typeface="Calibri" pitchFamily="34" charset="0"/>
                <a:ea typeface="Calibri" pitchFamily="34" charset="-122"/>
                <a:cs typeface="Calibri" pitchFamily="34" charset="-120"/>
              </a:rPr>
              <a:t>Có thể dùng thuật toán chấp nhận trì hoãn (Gale-Shapley) để xếp CLB ở quy mô trường học không?</a:t>
            </a:r>
            <a:endParaRPr lang="en-US" sz="1200" dirty="0"/>
          </a:p>
        </p:txBody>
      </p:sp>
      <p:sp>
        <p:nvSpPr>
          <p:cNvPr id="15" name="Text 13"/>
          <p:cNvSpPr txBox="1"/>
          <p:nvPr/>
        </p:nvSpPr>
        <p:spPr>
          <a:xfrm>
            <a:off x="4846320" y="2286000"/>
            <a:ext cx="3657600" cy="228600"/>
          </a:xfrm>
          <a:prstGeom prst="rect">
            <a:avLst/>
          </a:prstGeom>
          <a:noFill/>
          <a:ln/>
        </p:spPr>
        <p:txBody>
          <a:bodyPr wrap="square" lIns="0" tIns="0" rIns="0" bIns="0" rtlCol="0" anchor="ctr"/>
          <a:lstStyle/>
          <a:p>
            <a:pPr indent="0" marL="0">
              <a:buNone/>
            </a:pPr>
            <a:r>
              <a:rPr lang="en-US" sz="1000" i="1" dirty="0">
                <a:solidFill>
                  <a:srgbClr val="3F6B52"/>
                </a:solidFill>
                <a:latin typeface="Calibri" pitchFamily="34" charset="0"/>
                <a:ea typeface="Calibri" pitchFamily="34" charset="-122"/>
                <a:cs typeface="Calibri" pitchFamily="34" charset="-120"/>
              </a:rPr>
              <a:t>Số liệu liên quan: trang 11, 12</a:t>
            </a:r>
            <a:endParaRPr lang="en-US" sz="1000" dirty="0"/>
          </a:p>
        </p:txBody>
      </p:sp>
      <p:sp>
        <p:nvSpPr>
          <p:cNvPr id="16" name="Shape 14"/>
          <p:cNvSpPr/>
          <p:nvPr/>
        </p:nvSpPr>
        <p:spPr>
          <a:xfrm>
            <a:off x="4343400" y="2697480"/>
            <a:ext cx="365760" cy="365760"/>
          </a:xfrm>
          <a:prstGeom prst="ellipse">
            <a:avLst/>
          </a:prstGeom>
          <a:solidFill>
            <a:srgbClr val="1C2321"/>
          </a:solidFill>
          <a:ln w="12700">
            <a:solidFill>
              <a:srgbClr val="1C2321"/>
            </a:solidFill>
            <a:prstDash val="solid"/>
          </a:ln>
        </p:spPr>
      </p:sp>
      <p:sp>
        <p:nvSpPr>
          <p:cNvPr id="17" name="Text 15"/>
          <p:cNvSpPr txBox="1"/>
          <p:nvPr/>
        </p:nvSpPr>
        <p:spPr>
          <a:xfrm>
            <a:off x="4343400" y="2697480"/>
            <a:ext cx="365760" cy="365760"/>
          </a:xfrm>
          <a:prstGeom prst="rect">
            <a:avLst/>
          </a:prstGeom>
          <a:noFill/>
          <a:ln/>
        </p:spPr>
        <p:txBody>
          <a:bodyPr wrap="square" lIns="0" tIns="0" rIns="0" bIns="0" rtlCol="0" anchor="ctr"/>
          <a:lstStyle/>
          <a:p>
            <a:pPr algn="ctr" indent="0" marL="0">
              <a:buNone/>
            </a:pPr>
            <a:r>
              <a:rPr lang="en-US" sz="1300" b="1" dirty="0">
                <a:solidFill>
                  <a:srgbClr val="C98A1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4846320" y="2670048"/>
            <a:ext cx="3657600" cy="502920"/>
          </a:xfrm>
          <a:prstGeom prst="rect">
            <a:avLst/>
          </a:prstGeom>
          <a:noFill/>
          <a:ln/>
        </p:spPr>
        <p:txBody>
          <a:bodyPr wrap="square" lIns="0" tIns="0" rIns="0" bIns="0" rtlCol="0" anchor="t"/>
          <a:lstStyle/>
          <a:p>
            <a:pPr indent="0" marL="0">
              <a:buNone/>
            </a:pPr>
            <a:r>
              <a:rPr lang="en-US" sz="1200" dirty="0">
                <a:solidFill>
                  <a:srgbClr val="1C2321"/>
                </a:solidFill>
                <a:latin typeface="Calibri" pitchFamily="34" charset="0"/>
                <a:ea typeface="Calibri" pitchFamily="34" charset="-122"/>
                <a:cs typeface="Calibri" pitchFamily="34" charset="-120"/>
              </a:rPr>
              <a:t>Mức độ đáp ứng nguyện vọng của học sinh thay đổi như thế nào?</a:t>
            </a:r>
            <a:endParaRPr lang="en-US" sz="1200" dirty="0"/>
          </a:p>
        </p:txBody>
      </p:sp>
      <p:sp>
        <p:nvSpPr>
          <p:cNvPr id="19" name="Text 17"/>
          <p:cNvSpPr txBox="1"/>
          <p:nvPr/>
        </p:nvSpPr>
        <p:spPr>
          <a:xfrm>
            <a:off x="4846320" y="3200400"/>
            <a:ext cx="3657600" cy="228600"/>
          </a:xfrm>
          <a:prstGeom prst="rect">
            <a:avLst/>
          </a:prstGeom>
          <a:noFill/>
          <a:ln/>
        </p:spPr>
        <p:txBody>
          <a:bodyPr wrap="square" lIns="0" tIns="0" rIns="0" bIns="0" rtlCol="0" anchor="ctr"/>
          <a:lstStyle/>
          <a:p>
            <a:pPr indent="0" marL="0">
              <a:buNone/>
            </a:pPr>
            <a:r>
              <a:rPr lang="en-US" sz="1000" i="1" dirty="0">
                <a:solidFill>
                  <a:srgbClr val="3F6B52"/>
                </a:solidFill>
                <a:latin typeface="Calibri" pitchFamily="34" charset="0"/>
                <a:ea typeface="Calibri" pitchFamily="34" charset="-122"/>
                <a:cs typeface="Calibri" pitchFamily="34" charset="-120"/>
              </a:rPr>
              <a:t>Số liệu liên quan: trang 10</a:t>
            </a:r>
            <a:endParaRPr lang="en-US" sz="1000" dirty="0"/>
          </a:p>
        </p:txBody>
      </p:sp>
      <p:sp>
        <p:nvSpPr>
          <p:cNvPr id="20" name="Shape 18"/>
          <p:cNvSpPr/>
          <p:nvPr/>
        </p:nvSpPr>
        <p:spPr>
          <a:xfrm>
            <a:off x="4343400" y="3611880"/>
            <a:ext cx="365760" cy="365760"/>
          </a:xfrm>
          <a:prstGeom prst="ellipse">
            <a:avLst/>
          </a:prstGeom>
          <a:solidFill>
            <a:srgbClr val="1C2321"/>
          </a:solidFill>
          <a:ln w="12700">
            <a:solidFill>
              <a:srgbClr val="1C2321"/>
            </a:solidFill>
            <a:prstDash val="solid"/>
          </a:ln>
        </p:spPr>
      </p:sp>
      <p:sp>
        <p:nvSpPr>
          <p:cNvPr id="21" name="Text 19"/>
          <p:cNvSpPr txBox="1"/>
          <p:nvPr/>
        </p:nvSpPr>
        <p:spPr>
          <a:xfrm>
            <a:off x="4343400" y="3611880"/>
            <a:ext cx="365760" cy="365760"/>
          </a:xfrm>
          <a:prstGeom prst="rect">
            <a:avLst/>
          </a:prstGeom>
          <a:noFill/>
          <a:ln/>
        </p:spPr>
        <p:txBody>
          <a:bodyPr wrap="square" lIns="0" tIns="0" rIns="0" bIns="0" rtlCol="0" anchor="ctr"/>
          <a:lstStyle/>
          <a:p>
            <a:pPr algn="ctr" indent="0" marL="0">
              <a:buNone/>
            </a:pPr>
            <a:r>
              <a:rPr lang="en-US" sz="1300" b="1" dirty="0">
                <a:solidFill>
                  <a:srgbClr val="C98A1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4846320" y="3584448"/>
            <a:ext cx="3657600" cy="502920"/>
          </a:xfrm>
          <a:prstGeom prst="rect">
            <a:avLst/>
          </a:prstGeom>
          <a:noFill/>
          <a:ln/>
        </p:spPr>
        <p:txBody>
          <a:bodyPr wrap="square" lIns="0" tIns="0" rIns="0" bIns="0" rtlCol="0" anchor="t"/>
          <a:lstStyle/>
          <a:p>
            <a:pPr indent="0" marL="0">
              <a:buNone/>
            </a:pPr>
            <a:r>
              <a:rPr lang="en-US" sz="1200" dirty="0">
                <a:solidFill>
                  <a:srgbClr val="1C2321"/>
                </a:solidFill>
                <a:latin typeface="Calibri" pitchFamily="34" charset="0"/>
                <a:ea typeface="Calibri" pitchFamily="34" charset="-122"/>
                <a:cs typeface="Calibri" pitchFamily="34" charset="-120"/>
              </a:rPr>
              <a:t>Thời gian sắp xếp thay đổi như thế nào khi áp dụng thuật toán?</a:t>
            </a:r>
            <a:endParaRPr lang="en-US" sz="1200" dirty="0"/>
          </a:p>
        </p:txBody>
      </p:sp>
      <p:sp>
        <p:nvSpPr>
          <p:cNvPr id="23" name="Text 21"/>
          <p:cNvSpPr txBox="1"/>
          <p:nvPr/>
        </p:nvSpPr>
        <p:spPr>
          <a:xfrm>
            <a:off x="4846320" y="4114800"/>
            <a:ext cx="3657600" cy="228600"/>
          </a:xfrm>
          <a:prstGeom prst="rect">
            <a:avLst/>
          </a:prstGeom>
          <a:noFill/>
          <a:ln/>
        </p:spPr>
        <p:txBody>
          <a:bodyPr wrap="square" lIns="0" tIns="0" rIns="0" bIns="0" rtlCol="0" anchor="ctr"/>
          <a:lstStyle/>
          <a:p>
            <a:pPr indent="0" marL="0">
              <a:buNone/>
            </a:pPr>
            <a:r>
              <a:rPr lang="en-US" sz="1000" i="1" dirty="0">
                <a:solidFill>
                  <a:srgbClr val="3F6B52"/>
                </a:solidFill>
                <a:latin typeface="Calibri" pitchFamily="34" charset="0"/>
                <a:ea typeface="Calibri" pitchFamily="34" charset="-122"/>
                <a:cs typeface="Calibri" pitchFamily="34" charset="-120"/>
              </a:rPr>
              <a:t>Số liệu liên quan: trang 10, 11</a:t>
            </a:r>
            <a:endParaRPr lang="en-US" sz="1000" dirty="0"/>
          </a:p>
        </p:txBody>
      </p:sp>
      <p:sp>
        <p:nvSpPr>
          <p:cNvPr id="24" name="Text 22"/>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2.2.1 Bối cảnh thực tế, 3.1 Câu hỏi nghiên cứu</a:t>
            </a:r>
            <a:endParaRPr lang="en-US" sz="900" dirty="0"/>
          </a:p>
        </p:txBody>
      </p:sp>
      <p:sp>
        <p:nvSpPr>
          <p:cNvPr id="25" name="Text 23"/>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GIẢI PHÁP</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Nạp ba tệp Excel, nhận danh sách từng CLB</a:t>
            </a:r>
            <a:endParaRPr lang="en-US" sz="3000" dirty="0"/>
          </a:p>
        </p:txBody>
      </p:sp>
      <p:sp>
        <p:nvSpPr>
          <p:cNvPr id="4" name="Shape 2"/>
          <p:cNvSpPr/>
          <p:nvPr/>
        </p:nvSpPr>
        <p:spPr>
          <a:xfrm>
            <a:off x="457200" y="1325880"/>
            <a:ext cx="2468880" cy="2514600"/>
          </a:xfrm>
          <a:prstGeom prst="roundRect">
            <a:avLst>
              <a:gd name="adj" fmla="val 2963"/>
            </a:avLst>
          </a:prstGeom>
          <a:solidFill>
            <a:srgbClr val="FFFFFF"/>
          </a:solidFill>
          <a:ln w="9525">
            <a:solidFill>
              <a:srgbClr val="DBDCD5"/>
            </a:solidFill>
            <a:prstDash val="solid"/>
          </a:ln>
        </p:spPr>
      </p:sp>
      <p:sp>
        <p:nvSpPr>
          <p:cNvPr id="5" name="Shape 3"/>
          <p:cNvSpPr/>
          <p:nvPr/>
        </p:nvSpPr>
        <p:spPr>
          <a:xfrm>
            <a:off x="685800" y="1600200"/>
            <a:ext cx="640080" cy="640080"/>
          </a:xfrm>
          <a:prstGeom prst="ellipse">
            <a:avLst/>
          </a:prstGeom>
          <a:solidFill>
            <a:srgbClr val="DCE9E0"/>
          </a:solidFill>
          <a:ln w="12700">
            <a:solidFill>
              <a:srgbClr val="DCE9E0"/>
            </a:solidFill>
            <a:prstDash val="solid"/>
          </a:ln>
        </p:spPr>
      </p:sp>
      <p:pic>
        <p:nvPicPr>
          <p:cNvPr id="6" name="Image 0" descr="preencoded.png">    </p:cNvPr>
          <p:cNvPicPr>
            <a:picLocks noChangeAspect="1"/>
          </p:cNvPicPr>
          <p:nvPr/>
        </p:nvPicPr>
        <p:blipFill>
          <a:blip r:embed="rId1"/>
          <a:stretch>
            <a:fillRect/>
          </a:stretch>
        </p:blipFill>
        <p:spPr>
          <a:xfrm>
            <a:off x="852221" y="1766621"/>
            <a:ext cx="307238" cy="307238"/>
          </a:xfrm>
          <a:prstGeom prst="rect">
            <a:avLst/>
          </a:prstGeom>
        </p:spPr>
      </p:pic>
      <p:sp>
        <p:nvSpPr>
          <p:cNvPr id="7" name="Text 4"/>
          <p:cNvSpPr txBox="1"/>
          <p:nvPr/>
        </p:nvSpPr>
        <p:spPr>
          <a:xfrm>
            <a:off x="685800" y="2377440"/>
            <a:ext cx="2011680" cy="228600"/>
          </a:xfrm>
          <a:prstGeom prst="rect">
            <a:avLst/>
          </a:prstGeom>
          <a:noFill/>
          <a:ln/>
        </p:spPr>
        <p:txBody>
          <a:bodyPr wrap="square" lIns="0" tIns="0" rIns="0" bIns="0" rtlCol="0" anchor="ctr"/>
          <a:lstStyle/>
          <a:p>
            <a:pPr indent="0" marL="0">
              <a:buNone/>
            </a:pPr>
            <a:r>
              <a:rPr lang="en-US" sz="1000" b="1" spc="200" kern="0" dirty="0">
                <a:solidFill>
                  <a:srgbClr val="3F6B52"/>
                </a:solidFill>
                <a:latin typeface="Calibri" pitchFamily="34" charset="0"/>
                <a:ea typeface="Calibri" pitchFamily="34" charset="-122"/>
                <a:cs typeface="Calibri" pitchFamily="34" charset="-120"/>
              </a:rPr>
              <a:t>ĐẦU VÀO</a:t>
            </a:r>
            <a:endParaRPr lang="en-US" sz="1000" dirty="0"/>
          </a:p>
        </p:txBody>
      </p:sp>
      <p:sp>
        <p:nvSpPr>
          <p:cNvPr id="8" name="Text 5"/>
          <p:cNvSpPr txBox="1"/>
          <p:nvPr/>
        </p:nvSpPr>
        <p:spPr>
          <a:xfrm>
            <a:off x="68580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Ba tệp Excel</a:t>
            </a:r>
            <a:endParaRPr lang="en-US" sz="1600" dirty="0"/>
          </a:p>
        </p:txBody>
      </p:sp>
      <p:sp>
        <p:nvSpPr>
          <p:cNvPr id="9" name="Text 6"/>
          <p:cNvSpPr txBox="1"/>
          <p:nvPr/>
        </p:nvSpPr>
        <p:spPr>
          <a:xfrm>
            <a:off x="68580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Danh sách CLB, các CLB học sinh muốn thi kèm điểm, và thứ tự nguyện vọng. Lấy thẳng từ Microsoft Forms.</a:t>
            </a:r>
            <a:endParaRPr lang="en-US" sz="1100" dirty="0"/>
          </a:p>
        </p:txBody>
      </p:sp>
      <p:pic>
        <p:nvPicPr>
          <p:cNvPr id="10" name="Image 1" descr="preencoded.png">    </p:cNvPr>
          <p:cNvPicPr>
            <a:picLocks noChangeAspect="1"/>
          </p:cNvPicPr>
          <p:nvPr/>
        </p:nvPicPr>
        <p:blipFill>
          <a:blip r:embed="rId2"/>
          <a:stretch>
            <a:fillRect/>
          </a:stretch>
        </p:blipFill>
        <p:spPr>
          <a:xfrm>
            <a:off x="3017520" y="2423160"/>
            <a:ext cx="228600" cy="228600"/>
          </a:xfrm>
          <a:prstGeom prst="rect">
            <a:avLst/>
          </a:prstGeom>
        </p:spPr>
      </p:pic>
      <p:sp>
        <p:nvSpPr>
          <p:cNvPr id="11" name="Shape 7"/>
          <p:cNvSpPr/>
          <p:nvPr/>
        </p:nvSpPr>
        <p:spPr>
          <a:xfrm>
            <a:off x="3337560" y="1325880"/>
            <a:ext cx="2468880" cy="2514600"/>
          </a:xfrm>
          <a:prstGeom prst="roundRect">
            <a:avLst>
              <a:gd name="adj" fmla="val 2963"/>
            </a:avLst>
          </a:prstGeom>
          <a:solidFill>
            <a:srgbClr val="FFFFFF"/>
          </a:solidFill>
          <a:ln w="9525">
            <a:solidFill>
              <a:srgbClr val="DBDCD5"/>
            </a:solidFill>
            <a:prstDash val="solid"/>
          </a:ln>
        </p:spPr>
      </p:sp>
      <p:sp>
        <p:nvSpPr>
          <p:cNvPr id="12" name="Shape 8"/>
          <p:cNvSpPr/>
          <p:nvPr/>
        </p:nvSpPr>
        <p:spPr>
          <a:xfrm>
            <a:off x="3566160" y="1600200"/>
            <a:ext cx="640080" cy="640080"/>
          </a:xfrm>
          <a:prstGeom prst="ellipse">
            <a:avLst/>
          </a:prstGeom>
          <a:solidFill>
            <a:srgbClr val="F1DFB8"/>
          </a:solidFill>
          <a:ln w="12700">
            <a:solidFill>
              <a:srgbClr val="F1DFB8"/>
            </a:solidFill>
            <a:prstDash val="solid"/>
          </a:ln>
        </p:spPr>
      </p:sp>
      <p:pic>
        <p:nvPicPr>
          <p:cNvPr id="13" name="Image 2" descr="preencoded.png">    </p:cNvPr>
          <p:cNvPicPr>
            <a:picLocks noChangeAspect="1"/>
          </p:cNvPicPr>
          <p:nvPr/>
        </p:nvPicPr>
        <p:blipFill>
          <a:blip r:embed="rId3"/>
          <a:stretch>
            <a:fillRect/>
          </a:stretch>
        </p:blipFill>
        <p:spPr>
          <a:xfrm>
            <a:off x="3732581" y="1766621"/>
            <a:ext cx="307238" cy="307238"/>
          </a:xfrm>
          <a:prstGeom prst="rect">
            <a:avLst/>
          </a:prstGeom>
        </p:spPr>
      </p:pic>
      <p:sp>
        <p:nvSpPr>
          <p:cNvPr id="14" name="Text 9"/>
          <p:cNvSpPr txBox="1"/>
          <p:nvPr/>
        </p:nvSpPr>
        <p:spPr>
          <a:xfrm>
            <a:off x="3566160" y="2377440"/>
            <a:ext cx="201168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PHẦN MỀM</a:t>
            </a:r>
            <a:endParaRPr lang="en-US" sz="1000" dirty="0"/>
          </a:p>
        </p:txBody>
      </p:sp>
      <p:sp>
        <p:nvSpPr>
          <p:cNvPr id="15" name="Text 10"/>
          <p:cNvSpPr txBox="1"/>
          <p:nvPr/>
        </p:nvSpPr>
        <p:spPr>
          <a:xfrm>
            <a:off x="356616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Kiểm tra và xếp chỗ</a:t>
            </a:r>
            <a:endParaRPr lang="en-US" sz="1600" dirty="0"/>
          </a:p>
        </p:txBody>
      </p:sp>
      <p:sp>
        <p:nvSpPr>
          <p:cNvPr id="16" name="Text 11"/>
          <p:cNvSpPr txBox="1"/>
          <p:nvPr/>
        </p:nvSpPr>
        <p:spPr>
          <a:xfrm>
            <a:off x="356616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Tự nhận ra từng loại tệp, báo những chỗ dữ liệu còn thiếu, rồi chạy thuật toán RB-DA.</a:t>
            </a:r>
            <a:endParaRPr lang="en-US" sz="1100" dirty="0"/>
          </a:p>
        </p:txBody>
      </p:sp>
      <p:pic>
        <p:nvPicPr>
          <p:cNvPr id="17" name="Image 3" descr="preencoded.png">    </p:cNvPr>
          <p:cNvPicPr>
            <a:picLocks noChangeAspect="1"/>
          </p:cNvPicPr>
          <p:nvPr/>
        </p:nvPicPr>
        <p:blipFill>
          <a:blip r:embed="rId4"/>
          <a:stretch>
            <a:fillRect/>
          </a:stretch>
        </p:blipFill>
        <p:spPr>
          <a:xfrm>
            <a:off x="5897880" y="2423160"/>
            <a:ext cx="228600" cy="228600"/>
          </a:xfrm>
          <a:prstGeom prst="rect">
            <a:avLst/>
          </a:prstGeom>
        </p:spPr>
      </p:pic>
      <p:sp>
        <p:nvSpPr>
          <p:cNvPr id="18" name="Shape 12"/>
          <p:cNvSpPr/>
          <p:nvPr/>
        </p:nvSpPr>
        <p:spPr>
          <a:xfrm>
            <a:off x="6217920" y="1325880"/>
            <a:ext cx="2468880" cy="2514600"/>
          </a:xfrm>
          <a:prstGeom prst="roundRect">
            <a:avLst>
              <a:gd name="adj" fmla="val 2963"/>
            </a:avLst>
          </a:prstGeom>
          <a:solidFill>
            <a:srgbClr val="FFFFFF"/>
          </a:solidFill>
          <a:ln w="9525">
            <a:solidFill>
              <a:srgbClr val="DBDCD5"/>
            </a:solidFill>
            <a:prstDash val="solid"/>
          </a:ln>
        </p:spPr>
      </p:sp>
      <p:sp>
        <p:nvSpPr>
          <p:cNvPr id="19" name="Shape 13"/>
          <p:cNvSpPr/>
          <p:nvPr/>
        </p:nvSpPr>
        <p:spPr>
          <a:xfrm>
            <a:off x="6446520" y="1600200"/>
            <a:ext cx="640080" cy="640080"/>
          </a:xfrm>
          <a:prstGeom prst="ellipse">
            <a:avLst/>
          </a:prstGeom>
          <a:solidFill>
            <a:srgbClr val="DCE9E0"/>
          </a:solidFill>
          <a:ln w="12700">
            <a:solidFill>
              <a:srgbClr val="DCE9E0"/>
            </a:solidFill>
            <a:prstDash val="solid"/>
          </a:ln>
        </p:spPr>
      </p:sp>
      <p:pic>
        <p:nvPicPr>
          <p:cNvPr id="20" name="Image 4" descr="preencoded.png">    </p:cNvPr>
          <p:cNvPicPr>
            <a:picLocks noChangeAspect="1"/>
          </p:cNvPicPr>
          <p:nvPr/>
        </p:nvPicPr>
        <p:blipFill>
          <a:blip r:embed="rId5"/>
          <a:stretch>
            <a:fillRect/>
          </a:stretch>
        </p:blipFill>
        <p:spPr>
          <a:xfrm>
            <a:off x="6612941" y="1766621"/>
            <a:ext cx="307238" cy="307238"/>
          </a:xfrm>
          <a:prstGeom prst="rect">
            <a:avLst/>
          </a:prstGeom>
        </p:spPr>
      </p:pic>
      <p:sp>
        <p:nvSpPr>
          <p:cNvPr id="21" name="Text 14"/>
          <p:cNvSpPr txBox="1"/>
          <p:nvPr/>
        </p:nvSpPr>
        <p:spPr>
          <a:xfrm>
            <a:off x="6446520" y="2377440"/>
            <a:ext cx="2011680" cy="228600"/>
          </a:xfrm>
          <a:prstGeom prst="rect">
            <a:avLst/>
          </a:prstGeom>
          <a:noFill/>
          <a:ln/>
        </p:spPr>
        <p:txBody>
          <a:bodyPr wrap="square" lIns="0" tIns="0" rIns="0" bIns="0" rtlCol="0" anchor="ctr"/>
          <a:lstStyle/>
          <a:p>
            <a:pPr indent="0" marL="0">
              <a:buNone/>
            </a:pPr>
            <a:r>
              <a:rPr lang="en-US" sz="1000" b="1" spc="200" kern="0" dirty="0">
                <a:solidFill>
                  <a:srgbClr val="3F6B52"/>
                </a:solidFill>
                <a:latin typeface="Calibri" pitchFamily="34" charset="0"/>
                <a:ea typeface="Calibri" pitchFamily="34" charset="-122"/>
                <a:cs typeface="Calibri" pitchFamily="34" charset="-120"/>
              </a:rPr>
              <a:t>ĐẦU RA</a:t>
            </a:r>
            <a:endParaRPr lang="en-US" sz="1000" dirty="0"/>
          </a:p>
        </p:txBody>
      </p:sp>
      <p:sp>
        <p:nvSpPr>
          <p:cNvPr id="22" name="Text 15"/>
          <p:cNvSpPr txBox="1"/>
          <p:nvPr/>
        </p:nvSpPr>
        <p:spPr>
          <a:xfrm>
            <a:off x="6446520" y="2624328"/>
            <a:ext cx="201168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Kết quả để gửi đi</a:t>
            </a:r>
            <a:endParaRPr lang="en-US" sz="1600" dirty="0"/>
          </a:p>
        </p:txBody>
      </p:sp>
      <p:sp>
        <p:nvSpPr>
          <p:cNvPr id="23" name="Text 16"/>
          <p:cNvSpPr txBox="1"/>
          <p:nvPr/>
        </p:nvSpPr>
        <p:spPr>
          <a:xfrm>
            <a:off x="6446520" y="3017520"/>
            <a:ext cx="2011680" cy="73152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Một tệp tổng cho nhà trường, một tệp riêng cho mỗi CLB, và danh sách học sinh chưa có chỗ.</a:t>
            </a:r>
            <a:endParaRPr lang="en-US" sz="1100" dirty="0"/>
          </a:p>
        </p:txBody>
      </p:sp>
      <p:sp>
        <p:nvSpPr>
          <p:cNvPr id="24" name="Text 17"/>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b="1" dirty="0">
                <a:solidFill>
                  <a:srgbClr val="3F6B52"/>
                </a:solidFill>
                <a:latin typeface="Calibri" pitchFamily="34" charset="0"/>
                <a:ea typeface="Calibri" pitchFamily="34" charset="-122"/>
                <a:cs typeface="Calibri" pitchFamily="34" charset="-120"/>
              </a:rPr>
              <a:t>Không cần Internet.</a:t>
            </a:r>
            <a:pPr indent="0" marL="0">
              <a:buNone/>
            </a:pPr>
            <a:r>
              <a:rPr lang="en-US" sz="1300" dirty="0">
                <a:solidFill>
                  <a:srgbClr val="3A423F"/>
                </a:solidFill>
                <a:latin typeface="Calibri" pitchFamily="34" charset="0"/>
                <a:ea typeface="Calibri" pitchFamily="34" charset="-122"/>
                <a:cs typeface="Calibri" pitchFamily="34" charset="-120"/>
              </a:rPr>
              <a:t> Phần mềm chạy trên một máy Windows 10 hoặc 11, không cần cài đặt, và dữ liệu học sinh không bị gửi ra ngoài.</a:t>
            </a:r>
            <a:endParaRPr lang="en-US" sz="1300" dirty="0"/>
          </a:p>
        </p:txBody>
      </p:sp>
      <p:sp>
        <p:nvSpPr>
          <p:cNvPr id="25"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5</a:t>
            </a:r>
            <a:endParaRPr lang="en-US" sz="1000" dirty="0"/>
          </a:p>
        </p:txBody>
      </p:sp>
      <p:sp>
        <p:nvSpPr>
          <p:cNvPr id="26" name="Text 19"/>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2.2.4 Giải pháp, 4.2.1 Mô hình hóa bài toán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CÁCH PHẦN MỀM QUYẾT ĐỊNH</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Bốn quy tắc chung cho mọi học sinh</a:t>
            </a:r>
            <a:endParaRPr lang="en-US" sz="3000" dirty="0"/>
          </a:p>
        </p:txBody>
      </p:sp>
      <p:sp>
        <p:nvSpPr>
          <p:cNvPr id="4" name="Shape 2"/>
          <p:cNvSpPr/>
          <p:nvPr/>
        </p:nvSpPr>
        <p:spPr>
          <a:xfrm>
            <a:off x="457200" y="1188720"/>
            <a:ext cx="594360" cy="594360"/>
          </a:xfrm>
          <a:prstGeom prst="ellipse">
            <a:avLst/>
          </a:prstGeom>
          <a:solidFill>
            <a:srgbClr val="1C2321"/>
          </a:solidFill>
          <a:ln w="12700">
            <a:solidFill>
              <a:srgbClr val="1C2321"/>
            </a:solidFill>
            <a:prstDash val="solid"/>
          </a:ln>
        </p:spPr>
      </p:sp>
      <p:pic>
        <p:nvPicPr>
          <p:cNvPr id="5" name="Image 0" descr="preencoded.png">    </p:cNvPr>
          <p:cNvPicPr>
            <a:picLocks noChangeAspect="1"/>
          </p:cNvPicPr>
          <p:nvPr/>
        </p:nvPicPr>
        <p:blipFill>
          <a:blip r:embed="rId1"/>
          <a:stretch>
            <a:fillRect/>
          </a:stretch>
        </p:blipFill>
        <p:spPr>
          <a:xfrm>
            <a:off x="611734" y="1343254"/>
            <a:ext cx="285293" cy="285293"/>
          </a:xfrm>
          <a:prstGeom prst="rect">
            <a:avLst/>
          </a:prstGeom>
        </p:spPr>
      </p:pic>
      <p:sp>
        <p:nvSpPr>
          <p:cNvPr id="6" name="Text 3"/>
          <p:cNvSpPr txBox="1"/>
          <p:nvPr/>
        </p:nvSpPr>
        <p:spPr>
          <a:xfrm>
            <a:off x="1280160" y="1188720"/>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Học sinh nộp đơn theo thứ tự nguyện vọng</a:t>
            </a:r>
            <a:endParaRPr lang="en-US" sz="1500" dirty="0"/>
          </a:p>
        </p:txBody>
      </p:sp>
      <p:sp>
        <p:nvSpPr>
          <p:cNvPr id="7" name="Text 4"/>
          <p:cNvSpPr txBox="1"/>
          <p:nvPr/>
        </p:nvSpPr>
        <p:spPr>
          <a:xfrm>
            <a:off x="1280160" y="1508760"/>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không được nhận ở nguyện vọng 1, đơn tự chuyển sang nguyện vọng 2, rồi 3, cứ thế tiếp tục.</a:t>
            </a:r>
            <a:endParaRPr lang="en-US" sz="1200" dirty="0"/>
          </a:p>
        </p:txBody>
      </p:sp>
      <p:sp>
        <p:nvSpPr>
          <p:cNvPr id="8" name="Shape 5"/>
          <p:cNvSpPr/>
          <p:nvPr/>
        </p:nvSpPr>
        <p:spPr>
          <a:xfrm>
            <a:off x="457200" y="2084832"/>
            <a:ext cx="594360" cy="594360"/>
          </a:xfrm>
          <a:prstGeom prst="ellipse">
            <a:avLst/>
          </a:prstGeom>
          <a:solidFill>
            <a:srgbClr val="1C2321"/>
          </a:solidFill>
          <a:ln w="12700">
            <a:solidFill>
              <a:srgbClr val="1C2321"/>
            </a:solidFill>
            <a:prstDash val="solid"/>
          </a:ln>
        </p:spPr>
      </p:sp>
      <p:pic>
        <p:nvPicPr>
          <p:cNvPr id="9" name="Image 1" descr="preencoded.png">    </p:cNvPr>
          <p:cNvPicPr>
            <a:picLocks noChangeAspect="1"/>
          </p:cNvPicPr>
          <p:nvPr/>
        </p:nvPicPr>
        <p:blipFill>
          <a:blip r:embed="rId2"/>
          <a:stretch>
            <a:fillRect/>
          </a:stretch>
        </p:blipFill>
        <p:spPr>
          <a:xfrm>
            <a:off x="611734" y="2239366"/>
            <a:ext cx="285293" cy="285293"/>
          </a:xfrm>
          <a:prstGeom prst="rect">
            <a:avLst/>
          </a:prstGeom>
        </p:spPr>
      </p:pic>
      <p:sp>
        <p:nvSpPr>
          <p:cNvPr id="10" name="Text 6"/>
          <p:cNvSpPr txBox="1"/>
          <p:nvPr/>
        </p:nvSpPr>
        <p:spPr>
          <a:xfrm>
            <a:off x="1280160" y="2084832"/>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CLB giữ chỗ tạm, chưa chốt ngay</a:t>
            </a:r>
            <a:endParaRPr lang="en-US" sz="1500" dirty="0"/>
          </a:p>
        </p:txBody>
      </p:sp>
      <p:sp>
        <p:nvSpPr>
          <p:cNvPr id="11" name="Text 7"/>
          <p:cNvSpPr txBox="1"/>
          <p:nvPr/>
        </p:nvSpPr>
        <p:spPr>
          <a:xfrm>
            <a:off x="1280160" y="2404872"/>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Học sinh phù hợp hơn dù đến sau vẫn được xét đầy đủ, nên nộp sớm hay muộn không ảnh hưởng kết quả.</a:t>
            </a:r>
            <a:endParaRPr lang="en-US" sz="1200" dirty="0"/>
          </a:p>
        </p:txBody>
      </p:sp>
      <p:sp>
        <p:nvSpPr>
          <p:cNvPr id="12" name="Shape 8"/>
          <p:cNvSpPr/>
          <p:nvPr/>
        </p:nvSpPr>
        <p:spPr>
          <a:xfrm>
            <a:off x="457200" y="2980944"/>
            <a:ext cx="594360" cy="594360"/>
          </a:xfrm>
          <a:prstGeom prst="ellipse">
            <a:avLst/>
          </a:prstGeom>
          <a:solidFill>
            <a:srgbClr val="1C2321"/>
          </a:solidFill>
          <a:ln w="12700">
            <a:solidFill>
              <a:srgbClr val="1C2321"/>
            </a:solidFill>
            <a:prstDash val="solid"/>
          </a:ln>
        </p:spPr>
      </p:sp>
      <p:pic>
        <p:nvPicPr>
          <p:cNvPr id="13" name="Image 2" descr="preencoded.png">    </p:cNvPr>
          <p:cNvPicPr>
            <a:picLocks noChangeAspect="1"/>
          </p:cNvPicPr>
          <p:nvPr/>
        </p:nvPicPr>
        <p:blipFill>
          <a:blip r:embed="rId3"/>
          <a:stretch>
            <a:fillRect/>
          </a:stretch>
        </p:blipFill>
        <p:spPr>
          <a:xfrm>
            <a:off x="611734" y="3135478"/>
            <a:ext cx="285293" cy="285293"/>
          </a:xfrm>
          <a:prstGeom prst="rect">
            <a:avLst/>
          </a:prstGeom>
        </p:spPr>
      </p:pic>
      <p:sp>
        <p:nvSpPr>
          <p:cNvPr id="14" name="Text 9"/>
          <p:cNvSpPr txBox="1"/>
          <p:nvPr/>
        </p:nvSpPr>
        <p:spPr>
          <a:xfrm>
            <a:off x="1280160" y="2980944"/>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Suất dự trữ cho diện ưu tiên</a:t>
            </a:r>
            <a:endParaRPr lang="en-US" sz="1500" dirty="0"/>
          </a:p>
        </p:txBody>
      </p:sp>
      <p:sp>
        <p:nvSpPr>
          <p:cNvPr id="15" name="Text 10"/>
          <p:cNvSpPr txBox="1"/>
          <p:nvPr/>
        </p:nvSpPr>
        <p:spPr>
          <a:xfrm>
            <a:off x="1280160" y="3300984"/>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Nếu không đủ học sinh thuộc diện, chỗ còn trống được trả lại cho xét chung, CLB không bị thiếu người.</a:t>
            </a:r>
            <a:endParaRPr lang="en-US" sz="1200" dirty="0"/>
          </a:p>
        </p:txBody>
      </p:sp>
      <p:sp>
        <p:nvSpPr>
          <p:cNvPr id="16" name="Shape 11"/>
          <p:cNvSpPr/>
          <p:nvPr/>
        </p:nvSpPr>
        <p:spPr>
          <a:xfrm>
            <a:off x="457200" y="3877056"/>
            <a:ext cx="594360" cy="594360"/>
          </a:xfrm>
          <a:prstGeom prst="ellipse">
            <a:avLst/>
          </a:prstGeom>
          <a:solidFill>
            <a:srgbClr val="1C2321"/>
          </a:solidFill>
          <a:ln w="12700">
            <a:solidFill>
              <a:srgbClr val="1C2321"/>
            </a:solidFill>
            <a:prstDash val="solid"/>
          </a:ln>
        </p:spPr>
      </p:sp>
      <p:pic>
        <p:nvPicPr>
          <p:cNvPr id="17" name="Image 3" descr="preencoded.png">    </p:cNvPr>
          <p:cNvPicPr>
            <a:picLocks noChangeAspect="1"/>
          </p:cNvPicPr>
          <p:nvPr/>
        </p:nvPicPr>
        <p:blipFill>
          <a:blip r:embed="rId4"/>
          <a:stretch>
            <a:fillRect/>
          </a:stretch>
        </p:blipFill>
        <p:spPr>
          <a:xfrm>
            <a:off x="611734" y="4031590"/>
            <a:ext cx="285293" cy="285293"/>
          </a:xfrm>
          <a:prstGeom prst="rect">
            <a:avLst/>
          </a:prstGeom>
        </p:spPr>
      </p:pic>
      <p:sp>
        <p:nvSpPr>
          <p:cNvPr id="18" name="Text 12"/>
          <p:cNvSpPr txBox="1"/>
          <p:nvPr/>
        </p:nvSpPr>
        <p:spPr>
          <a:xfrm>
            <a:off x="1280160" y="3877056"/>
            <a:ext cx="4206240" cy="320040"/>
          </a:xfrm>
          <a:prstGeom prst="rect">
            <a:avLst/>
          </a:prstGeom>
          <a:noFill/>
          <a:ln/>
        </p:spPr>
        <p:txBody>
          <a:bodyPr wrap="square" lIns="0" tIns="0" rIns="0" bIns="0" rtlCol="0" anchor="ctr"/>
          <a:lstStyle/>
          <a:p>
            <a:pPr indent="0" marL="0">
              <a:buNone/>
            </a:pPr>
            <a:r>
              <a:rPr lang="en-US" sz="1500" b="1" dirty="0">
                <a:solidFill>
                  <a:srgbClr val="1C2321"/>
                </a:solidFill>
                <a:latin typeface="Calibri" pitchFamily="34" charset="0"/>
                <a:ea typeface="Calibri" pitchFamily="34" charset="-122"/>
                <a:cs typeface="Calibri" pitchFamily="34" charset="-120"/>
              </a:rPr>
              <a:t>Mỗi buổi bốc thăm một lần</a:t>
            </a:r>
            <a:endParaRPr lang="en-US" sz="1500" dirty="0"/>
          </a:p>
        </p:txBody>
      </p:sp>
      <p:sp>
        <p:nvSpPr>
          <p:cNvPr id="19" name="Text 13"/>
          <p:cNvSpPr txBox="1"/>
          <p:nvPr/>
        </p:nvSpPr>
        <p:spPr>
          <a:xfrm>
            <a:off x="1280160" y="4197096"/>
            <a:ext cx="420624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Số bốc thăm dùng chung cho mọi CLB trong buổi, chỉ dùng khi hai học sinh ngang nhau. Bốc xong là khóa lại.</a:t>
            </a:r>
            <a:endParaRPr lang="en-US" sz="1200" dirty="0"/>
          </a:p>
        </p:txBody>
      </p:sp>
      <p:sp>
        <p:nvSpPr>
          <p:cNvPr id="20" name="Shape 14"/>
          <p:cNvSpPr/>
          <p:nvPr/>
        </p:nvSpPr>
        <p:spPr>
          <a:xfrm>
            <a:off x="5806440" y="1188720"/>
            <a:ext cx="2880360" cy="3291840"/>
          </a:xfrm>
          <a:prstGeom prst="roundRect">
            <a:avLst>
              <a:gd name="adj" fmla="val 2540"/>
            </a:avLst>
          </a:prstGeom>
          <a:solidFill>
            <a:srgbClr val="1C2321"/>
          </a:solidFill>
          <a:ln w="9525">
            <a:solidFill>
              <a:srgbClr val="DBDCD5"/>
            </a:solidFill>
            <a:prstDash val="solid"/>
          </a:ln>
        </p:spPr>
      </p:sp>
      <p:sp>
        <p:nvSpPr>
          <p:cNvPr id="21" name="Text 15"/>
          <p:cNvSpPr txBox="1"/>
          <p:nvPr/>
        </p:nvSpPr>
        <p:spPr>
          <a:xfrm>
            <a:off x="6080760" y="1417320"/>
            <a:ext cx="2377440" cy="548640"/>
          </a:xfrm>
          <a:prstGeom prst="rect">
            <a:avLst/>
          </a:prstGeom>
          <a:noFill/>
          <a:ln/>
        </p:spPr>
        <p:txBody>
          <a:bodyPr wrap="square" lIns="0" tIns="0" rIns="0" bIns="0" rtlCol="0" anchor="ctr"/>
          <a:lstStyle/>
          <a:p>
            <a:pPr indent="0" marL="0">
              <a:buNone/>
            </a:pPr>
            <a:r>
              <a:rPr lang="en-US" sz="3200" b="1" dirty="0">
                <a:solidFill>
                  <a:srgbClr val="C98A1F"/>
                </a:solidFill>
                <a:latin typeface="Cambria" pitchFamily="34" charset="0"/>
                <a:ea typeface="Cambria" pitchFamily="34" charset="-122"/>
                <a:cs typeface="Cambria" pitchFamily="34" charset="-120"/>
              </a:rPr>
              <a:t>RB-DA</a:t>
            </a:r>
            <a:endParaRPr lang="en-US" sz="3200" dirty="0"/>
          </a:p>
        </p:txBody>
      </p:sp>
      <p:sp>
        <p:nvSpPr>
          <p:cNvPr id="22" name="Text 16"/>
          <p:cNvSpPr txBox="1"/>
          <p:nvPr/>
        </p:nvSpPr>
        <p:spPr>
          <a:xfrm>
            <a:off x="6080760" y="1965960"/>
            <a:ext cx="2377440" cy="457200"/>
          </a:xfrm>
          <a:prstGeom prst="rect">
            <a:avLst/>
          </a:prstGeom>
          <a:noFill/>
          <a:ln/>
        </p:spPr>
        <p:txBody>
          <a:bodyPr wrap="square" lIns="0" tIns="0" rIns="0" bIns="0" rtlCol="0" anchor="ctr"/>
          <a:lstStyle/>
          <a:p>
            <a:pPr indent="0" marL="0">
              <a:buNone/>
            </a:pPr>
            <a:r>
              <a:rPr lang="en-US" sz="1200" i="1" dirty="0">
                <a:solidFill>
                  <a:srgbClr val="C9CEC9"/>
                </a:solidFill>
                <a:latin typeface="Calibri" pitchFamily="34" charset="0"/>
                <a:ea typeface="Calibri" pitchFamily="34" charset="-122"/>
                <a:cs typeface="Calibri" pitchFamily="34" charset="-120"/>
              </a:rPr>
              <a:t>Reserve-Based Deferred Acceptance</a:t>
            </a:r>
            <a:endParaRPr lang="en-US" sz="1200" dirty="0"/>
          </a:p>
        </p:txBody>
      </p:sp>
      <p:sp>
        <p:nvSpPr>
          <p:cNvPr id="23" name="Text 17"/>
          <p:cNvSpPr txBox="1"/>
          <p:nvPr/>
        </p:nvSpPr>
        <p:spPr>
          <a:xfrm>
            <a:off x="6080760" y="2468880"/>
            <a:ext cx="2377440" cy="1828800"/>
          </a:xfrm>
          <a:prstGeom prst="rect">
            <a:avLst/>
          </a:prstGeom>
          <a:noFill/>
          <a:ln/>
        </p:spPr>
        <p:txBody>
          <a:bodyPr wrap="square" lIns="0" tIns="0" rIns="0" bIns="0" rtlCol="0" anchor="t"/>
          <a:lstStyle/>
          <a:p>
            <a:pPr indent="0" marL="0">
              <a:spcAft>
                <a:spcPts val="300"/>
              </a:spcAft>
              <a:buNone/>
            </a:pPr>
            <a:r>
              <a:rPr lang="en-US" sz="1200" b="1" dirty="0">
                <a:solidFill>
                  <a:srgbClr val="FFFFFF"/>
                </a:solidFill>
                <a:latin typeface="Calibri" pitchFamily="34" charset="0"/>
                <a:ea typeface="Calibri" pitchFamily="34" charset="-122"/>
                <a:cs typeface="Calibri" pitchFamily="34" charset="-120"/>
              </a:rPr>
              <a:t>Năm cơ chế trong phần mềm:</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 Chấp nhận trì hoãn (Gale-Shapley)</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2. Dự trữ mềm, xét hai lượt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3. Bốc thăm dùng chung (STB)</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4. Ưu tiên hai tầng</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5. Kiểm chứng ổn định</a:t>
            </a:r>
            <a:endParaRPr lang="en-US" sz="12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6</a:t>
            </a:r>
            <a:endParaRPr lang="en-US" sz="1000" dirty="0"/>
          </a:p>
        </p:txBody>
      </p:sp>
      <p:sp>
        <p:nvSpPr>
          <p:cNvPr id="25" name="Text 19"/>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4.2.2, bảng 5 cơ chế, và 4.2.2.1 đến 4.2.2.3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CLB CÓ THI VÀ KHÔNG THI</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Mỗi CLB xếp học sinh thành hai tầng</a:t>
            </a:r>
            <a:endParaRPr lang="en-US" sz="3000" dirty="0"/>
          </a:p>
        </p:txBody>
      </p:sp>
      <p:sp>
        <p:nvSpPr>
          <p:cNvPr id="4" name="Shape 2"/>
          <p:cNvSpPr/>
          <p:nvPr/>
        </p:nvSpPr>
        <p:spPr>
          <a:xfrm>
            <a:off x="457200" y="1188720"/>
            <a:ext cx="4846320" cy="1051560"/>
          </a:xfrm>
          <a:prstGeom prst="roundRect">
            <a:avLst>
              <a:gd name="adj" fmla="val 6957"/>
            </a:avLst>
          </a:prstGeom>
          <a:solidFill>
            <a:srgbClr val="DCE9E0"/>
          </a:solidFill>
          <a:ln w="9525">
            <a:solidFill>
              <a:srgbClr val="DBDCD5"/>
            </a:solidFill>
            <a:prstDash val="solid"/>
          </a:ln>
        </p:spPr>
      </p:sp>
      <p:sp>
        <p:nvSpPr>
          <p:cNvPr id="5" name="Text 3"/>
          <p:cNvSpPr txBox="1"/>
          <p:nvPr/>
        </p:nvSpPr>
        <p:spPr>
          <a:xfrm>
            <a:off x="685800" y="1371600"/>
            <a:ext cx="1005840" cy="685800"/>
          </a:xfrm>
          <a:prstGeom prst="rect">
            <a:avLst/>
          </a:prstGeom>
          <a:noFill/>
          <a:ln/>
        </p:spPr>
        <p:txBody>
          <a:bodyPr wrap="square" lIns="0" tIns="0" rIns="0" bIns="0" rtlCol="0" anchor="ctr"/>
          <a:lstStyle/>
          <a:p>
            <a:pPr indent="0" marL="0">
              <a:buNone/>
            </a:pPr>
            <a:r>
              <a:rPr lang="en-US" sz="1800" b="1" dirty="0">
                <a:solidFill>
                  <a:srgbClr val="3F6B52"/>
                </a:solidFill>
                <a:latin typeface="Cambria" pitchFamily="34" charset="0"/>
                <a:ea typeface="Cambria" pitchFamily="34" charset="-122"/>
                <a:cs typeface="Cambria" pitchFamily="34" charset="-120"/>
              </a:rPr>
              <a:t>TẦNG 1</a:t>
            </a:r>
            <a:endParaRPr lang="en-US" sz="1800" dirty="0"/>
          </a:p>
        </p:txBody>
      </p:sp>
      <p:sp>
        <p:nvSpPr>
          <p:cNvPr id="6" name="Text 4"/>
          <p:cNvSpPr txBox="1"/>
          <p:nvPr/>
        </p:nvSpPr>
        <p:spPr>
          <a:xfrm>
            <a:off x="1783080" y="1344168"/>
            <a:ext cx="3383280" cy="32004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Học sinh đã được chấm điểm cho CLB đó</a:t>
            </a:r>
            <a:endParaRPr lang="en-US" sz="1400" dirty="0"/>
          </a:p>
        </p:txBody>
      </p:sp>
      <p:sp>
        <p:nvSpPr>
          <p:cNvPr id="7" name="Text 5"/>
          <p:cNvSpPr txBox="1"/>
          <p:nvPr/>
        </p:nvSpPr>
        <p:spPr>
          <a:xfrm>
            <a:off x="1783080" y="1664208"/>
            <a:ext cx="338328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Xếp theo điểm từ cao xuống thấp. Chỉ khi bằng điểm mới dùng đến số bốc thăm.</a:t>
            </a:r>
            <a:endParaRPr lang="en-US" sz="1200" dirty="0"/>
          </a:p>
        </p:txBody>
      </p:sp>
      <p:sp>
        <p:nvSpPr>
          <p:cNvPr id="8" name="Shape 6"/>
          <p:cNvSpPr/>
          <p:nvPr/>
        </p:nvSpPr>
        <p:spPr>
          <a:xfrm>
            <a:off x="457200" y="2423160"/>
            <a:ext cx="4846320" cy="1051560"/>
          </a:xfrm>
          <a:prstGeom prst="roundRect">
            <a:avLst>
              <a:gd name="adj" fmla="val 6957"/>
            </a:avLst>
          </a:prstGeom>
          <a:solidFill>
            <a:srgbClr val="F1DFB8"/>
          </a:solidFill>
          <a:ln w="9525">
            <a:solidFill>
              <a:srgbClr val="DBDCD5"/>
            </a:solidFill>
            <a:prstDash val="solid"/>
          </a:ln>
        </p:spPr>
      </p:sp>
      <p:sp>
        <p:nvSpPr>
          <p:cNvPr id="9" name="Text 7"/>
          <p:cNvSpPr txBox="1"/>
          <p:nvPr/>
        </p:nvSpPr>
        <p:spPr>
          <a:xfrm>
            <a:off x="685800" y="2606040"/>
            <a:ext cx="1005840" cy="685800"/>
          </a:xfrm>
          <a:prstGeom prst="rect">
            <a:avLst/>
          </a:prstGeom>
          <a:noFill/>
          <a:ln/>
        </p:spPr>
        <p:txBody>
          <a:bodyPr wrap="square" lIns="0" tIns="0" rIns="0" bIns="0" rtlCol="0" anchor="ctr"/>
          <a:lstStyle/>
          <a:p>
            <a:pPr indent="0" marL="0">
              <a:buNone/>
            </a:pPr>
            <a:r>
              <a:rPr lang="en-US" sz="1800" b="1" dirty="0">
                <a:solidFill>
                  <a:srgbClr val="C98A1F"/>
                </a:solidFill>
                <a:latin typeface="Cambria" pitchFamily="34" charset="0"/>
                <a:ea typeface="Cambria" pitchFamily="34" charset="-122"/>
                <a:cs typeface="Cambria" pitchFamily="34" charset="-120"/>
              </a:rPr>
              <a:t>TẦNG 2</a:t>
            </a:r>
            <a:endParaRPr lang="en-US" sz="1800" dirty="0"/>
          </a:p>
        </p:txBody>
      </p:sp>
      <p:sp>
        <p:nvSpPr>
          <p:cNvPr id="10" name="Text 8"/>
          <p:cNvSpPr txBox="1"/>
          <p:nvPr/>
        </p:nvSpPr>
        <p:spPr>
          <a:xfrm>
            <a:off x="1783080" y="2578608"/>
            <a:ext cx="3383280" cy="32004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Học sinh đăng ký nhưng không thi CLB đó</a:t>
            </a:r>
            <a:endParaRPr lang="en-US" sz="1400" dirty="0"/>
          </a:p>
        </p:txBody>
      </p:sp>
      <p:sp>
        <p:nvSpPr>
          <p:cNvPr id="11" name="Text 9"/>
          <p:cNvSpPr txBox="1"/>
          <p:nvPr/>
        </p:nvSpPr>
        <p:spPr>
          <a:xfrm>
            <a:off x="1783080" y="2898648"/>
            <a:ext cx="3383280" cy="502920"/>
          </a:xfrm>
          <a:prstGeom prst="rect">
            <a:avLst/>
          </a:prstGeom>
          <a:noFill/>
          <a:ln/>
        </p:spPr>
        <p:txBody>
          <a:bodyPr wrap="square" lIns="0" tIns="0" rIns="0" bIns="0" rtlCol="0" anchor="t"/>
          <a:lstStyle/>
          <a:p>
            <a:pPr indent="0" marL="0">
              <a:buNone/>
            </a:pPr>
            <a:r>
              <a:rPr lang="en-US" sz="1200" dirty="0">
                <a:solidFill>
                  <a:srgbClr val="3A423F"/>
                </a:solidFill>
                <a:latin typeface="Calibri" pitchFamily="34" charset="0"/>
                <a:ea typeface="Calibri" pitchFamily="34" charset="-122"/>
                <a:cs typeface="Calibri" pitchFamily="34" charset="-120"/>
              </a:rPr>
              <a:t>Xếp theo số bốc thăm, luôn đứng sau Tầng 1.</a:t>
            </a:r>
            <a:endParaRPr lang="en-US" sz="1200" dirty="0"/>
          </a:p>
        </p:txBody>
      </p:sp>
      <p:sp>
        <p:nvSpPr>
          <p:cNvPr id="12" name="Text 10"/>
          <p:cNvSpPr txBox="1"/>
          <p:nvPr/>
        </p:nvSpPr>
        <p:spPr>
          <a:xfrm>
            <a:off x="457200" y="3749040"/>
            <a:ext cx="4846320" cy="82296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CLB không biết học sinh đặt mình ở nguyện vọng thứ mấy. </a:t>
            </a:r>
            <a:pPr indent="0" marL="0">
              <a:buNone/>
            </a:pPr>
            <a:r>
              <a:rPr lang="en-US" sz="1200" dirty="0">
                <a:solidFill>
                  <a:srgbClr val="3A423F"/>
                </a:solidFill>
                <a:latin typeface="Calibri" pitchFamily="34" charset="0"/>
                <a:ea typeface="Calibri" pitchFamily="34" charset="-122"/>
                <a:cs typeface="Calibri" pitchFamily="34" charset="-120"/>
              </a:rPr>
              <a:t>Vì thế học sinh cứ ghi đúng mong muốn của mình. Tính toán chiến thuật cũng không được lợi thêm.</a:t>
            </a:r>
            <a:endParaRPr lang="en-US" sz="1200" dirty="0"/>
          </a:p>
        </p:txBody>
      </p:sp>
      <p:sp>
        <p:nvSpPr>
          <p:cNvPr id="13" name="Shape 11"/>
          <p:cNvSpPr/>
          <p:nvPr/>
        </p:nvSpPr>
        <p:spPr>
          <a:xfrm>
            <a:off x="5669280" y="1188720"/>
            <a:ext cx="3017520" cy="3383280"/>
          </a:xfrm>
          <a:prstGeom prst="roundRect">
            <a:avLst>
              <a:gd name="adj" fmla="val 2424"/>
            </a:avLst>
          </a:prstGeom>
          <a:solidFill>
            <a:srgbClr val="FFFFFF"/>
          </a:solidFill>
          <a:ln w="9525">
            <a:solidFill>
              <a:srgbClr val="DBDCD5"/>
            </a:solidFill>
            <a:prstDash val="solid"/>
          </a:ln>
        </p:spPr>
      </p:sp>
      <p:sp>
        <p:nvSpPr>
          <p:cNvPr id="14" name="Shape 12"/>
          <p:cNvSpPr/>
          <p:nvPr/>
        </p:nvSpPr>
        <p:spPr>
          <a:xfrm>
            <a:off x="5897880" y="1417320"/>
            <a:ext cx="548640" cy="548640"/>
          </a:xfrm>
          <a:prstGeom prst="ellipse">
            <a:avLst/>
          </a:prstGeom>
          <a:solidFill>
            <a:srgbClr val="1C2321"/>
          </a:solidFill>
          <a:ln w="12700">
            <a:solidFill>
              <a:srgbClr val="1C2321"/>
            </a:solidFill>
            <a:prstDash val="solid"/>
          </a:ln>
        </p:spPr>
      </p:sp>
      <p:pic>
        <p:nvPicPr>
          <p:cNvPr id="15" name="Image 0" descr="preencoded.png">    </p:cNvPr>
          <p:cNvPicPr>
            <a:picLocks noChangeAspect="1"/>
          </p:cNvPicPr>
          <p:nvPr/>
        </p:nvPicPr>
        <p:blipFill>
          <a:blip r:embed="rId1"/>
          <a:stretch>
            <a:fillRect/>
          </a:stretch>
        </p:blipFill>
        <p:spPr>
          <a:xfrm>
            <a:off x="6040526" y="1559966"/>
            <a:ext cx="263347" cy="263347"/>
          </a:xfrm>
          <a:prstGeom prst="rect">
            <a:avLst/>
          </a:prstGeom>
        </p:spPr>
      </p:pic>
      <p:sp>
        <p:nvSpPr>
          <p:cNvPr id="16" name="Text 13"/>
          <p:cNvSpPr txBox="1"/>
          <p:nvPr/>
        </p:nvSpPr>
        <p:spPr>
          <a:xfrm>
            <a:off x="6583680" y="1463040"/>
            <a:ext cx="2057400" cy="45720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Chấm điểm khách quan</a:t>
            </a:r>
            <a:endParaRPr lang="en-US" sz="1400" dirty="0"/>
          </a:p>
        </p:txBody>
      </p:sp>
      <p:sp>
        <p:nvSpPr>
          <p:cNvPr id="17" name="Text 14"/>
          <p:cNvSpPr txBox="1"/>
          <p:nvPr/>
        </p:nvSpPr>
        <p:spPr>
          <a:xfrm>
            <a:off x="5897880" y="2148840"/>
            <a:ext cx="2606040" cy="2286000"/>
          </a:xfrm>
          <a:prstGeom prst="rect">
            <a:avLst/>
          </a:prstGeom>
          <a:noFill/>
          <a:ln/>
        </p:spPr>
        <p:txBody>
          <a:bodyPr wrap="square" lIns="0" tIns="0" rIns="0" bIns="0" rtlCol="0" anchor="t"/>
          <a:lstStyle/>
          <a:p>
            <a:pPr indent="0" marL="0">
              <a:buNone/>
            </a:pPr>
            <a:r>
              <a:rPr lang="en-US" sz="1300" dirty="0">
                <a:solidFill>
                  <a:srgbClr val="3A423F"/>
                </a:solidFill>
                <a:latin typeface="Calibri" pitchFamily="34" charset="0"/>
                <a:ea typeface="Calibri" pitchFamily="34" charset="-122"/>
                <a:cs typeface="Calibri" pitchFamily="34" charset="-120"/>
              </a:rPr>
              <a:t>Màn hình chấm điểm chỉ hiện mã và họ tên học sinh.</a:t>
            </a:r>
            <a:endParaRPr lang="en-US" sz="1300" dirty="0"/>
          </a:p>
          <a:p>
            <a:pPr indent="0" marL="0">
              <a:buNone/>
            </a:pPr>
            <a:r>
              <a:rPr lang="en-US" sz="600" dirty="0">
                <a:solidFill>
                  <a:srgbClr val="3A423F"/>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3A423F"/>
                </a:solidFill>
                <a:latin typeface="Calibri" pitchFamily="34" charset="0"/>
                <a:ea typeface="Calibri" pitchFamily="34" charset="-122"/>
                <a:cs typeface="Calibri" pitchFamily="34" charset="-120"/>
              </a:rPr>
              <a:t>Giáo viên không thấy số bốc thăm, cũng không biết học sinh đặt CLB mình ở nguyện vọng thứ mấy, nên không thể chấm để ưu ái ai.</a:t>
            </a:r>
            <a:endParaRPr lang="en-US" sz="1300" dirty="0"/>
          </a:p>
        </p:txBody>
      </p:sp>
      <p:sp>
        <p:nvSpPr>
          <p:cNvPr id="18"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7</a:t>
            </a:r>
            <a:endParaRPr lang="en-US" sz="1000" dirty="0"/>
          </a:p>
        </p:txBody>
      </p:sp>
      <p:sp>
        <p:nvSpPr>
          <p:cNvPr id="19" name="Shape 16"/>
          <p:cNvSpPr/>
          <p:nvPr/>
        </p:nvSpPr>
        <p:spPr>
          <a:xfrm>
            <a:off x="5852160" y="3749040"/>
            <a:ext cx="2651760" cy="640080"/>
          </a:xfrm>
          <a:prstGeom prst="roundRect">
            <a:avLst>
              <a:gd name="adj" fmla="val 8571"/>
            </a:avLst>
          </a:prstGeom>
          <a:solidFill>
            <a:srgbClr val="F3F4F1"/>
          </a:solidFill>
          <a:ln w="12700">
            <a:solidFill>
              <a:srgbClr val="F3F4F1"/>
            </a:solidFill>
            <a:prstDash val="solid"/>
          </a:ln>
        </p:spPr>
      </p:sp>
      <p:sp>
        <p:nvSpPr>
          <p:cNvPr id="20" name="Text 17"/>
          <p:cNvSpPr txBox="1"/>
          <p:nvPr/>
        </p:nvSpPr>
        <p:spPr>
          <a:xfrm>
            <a:off x="5989320" y="3749040"/>
            <a:ext cx="2423160" cy="640080"/>
          </a:xfrm>
          <a:prstGeom prst="rect">
            <a:avLst/>
          </a:prstGeom>
          <a:noFill/>
          <a:ln/>
        </p:spPr>
        <p:txBody>
          <a:bodyPr wrap="square" lIns="0" tIns="0" rIns="0" bIns="0" rtlCol="0" anchor="ctr"/>
          <a:lstStyle/>
          <a:p>
            <a:pPr indent="0" marL="0">
              <a:buNone/>
            </a:pPr>
            <a:r>
              <a:rPr lang="en-US" sz="1100" b="1" dirty="0">
                <a:solidFill>
                  <a:srgbClr val="1C2321"/>
                </a:solidFill>
                <a:latin typeface="Calibri" pitchFamily="34" charset="0"/>
                <a:ea typeface="Calibri" pitchFamily="34" charset="-122"/>
                <a:cs typeface="Calibri" pitchFamily="34" charset="-120"/>
              </a:rPr>
              <a:t>Mỗi buổi: xếp tối đa 10 nguyện vọng, dự thi tối đa 5 CLB.</a:t>
            </a:r>
            <a:endParaRPr lang="en-US" sz="1100" dirty="0"/>
          </a:p>
        </p:txBody>
      </p:sp>
      <p:sp>
        <p:nvSpPr>
          <p:cNvPr id="21" name="Text 18"/>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4.2.1 và 4.2.2.4 Cơ chế ưu tiên hai tầng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VẬN HÀNH</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Năm bước để có kết quả</a:t>
            </a:r>
            <a:endParaRPr lang="en-US" sz="3000" dirty="0"/>
          </a:p>
        </p:txBody>
      </p:sp>
      <p:sp>
        <p:nvSpPr>
          <p:cNvPr id="4" name="Shape 2"/>
          <p:cNvSpPr/>
          <p:nvPr/>
        </p:nvSpPr>
        <p:spPr>
          <a:xfrm>
            <a:off x="457200" y="1188720"/>
            <a:ext cx="420624" cy="420624"/>
          </a:xfrm>
          <a:prstGeom prst="ellipse">
            <a:avLst/>
          </a:prstGeom>
          <a:solidFill>
            <a:srgbClr val="1C2321"/>
          </a:solidFill>
          <a:ln w="12700">
            <a:solidFill>
              <a:srgbClr val="1C2321"/>
            </a:solidFill>
            <a:prstDash val="solid"/>
          </a:ln>
        </p:spPr>
      </p:sp>
      <p:sp>
        <p:nvSpPr>
          <p:cNvPr id="5" name="Text 3"/>
          <p:cNvSpPr txBox="1"/>
          <p:nvPr/>
        </p:nvSpPr>
        <p:spPr>
          <a:xfrm>
            <a:off x="457200" y="1188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005840" y="1188720"/>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Nạp ba tệp Excel</a:t>
            </a:r>
            <a:endParaRPr lang="en-US" sz="1400" dirty="0"/>
          </a:p>
        </p:txBody>
      </p:sp>
      <p:sp>
        <p:nvSpPr>
          <p:cNvPr id="7" name="Shape 5"/>
          <p:cNvSpPr/>
          <p:nvPr/>
        </p:nvSpPr>
        <p:spPr>
          <a:xfrm>
            <a:off x="667512" y="1645920"/>
            <a:ext cx="0" cy="182880"/>
          </a:xfrm>
          <a:prstGeom prst="line">
            <a:avLst/>
          </a:prstGeom>
          <a:noFill/>
          <a:ln w="19050">
            <a:solidFill>
              <a:srgbClr val="DBDCD5"/>
            </a:solidFill>
            <a:prstDash val="solid"/>
          </a:ln>
        </p:spPr>
      </p:sp>
      <p:sp>
        <p:nvSpPr>
          <p:cNvPr id="8" name="Shape 6"/>
          <p:cNvSpPr/>
          <p:nvPr/>
        </p:nvSpPr>
        <p:spPr>
          <a:xfrm>
            <a:off x="457200" y="1865376"/>
            <a:ext cx="420624" cy="420624"/>
          </a:xfrm>
          <a:prstGeom prst="ellipse">
            <a:avLst/>
          </a:prstGeom>
          <a:solidFill>
            <a:srgbClr val="1C2321"/>
          </a:solidFill>
          <a:ln w="12700">
            <a:solidFill>
              <a:srgbClr val="1C2321"/>
            </a:solidFill>
            <a:prstDash val="solid"/>
          </a:ln>
        </p:spPr>
      </p:sp>
      <p:sp>
        <p:nvSpPr>
          <p:cNvPr id="9" name="Text 7"/>
          <p:cNvSpPr txBox="1"/>
          <p:nvPr/>
        </p:nvSpPr>
        <p:spPr>
          <a:xfrm>
            <a:off x="457200" y="18653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005840" y="1865376"/>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Xem mục Cảnh báo dữ liệu</a:t>
            </a:r>
            <a:endParaRPr lang="en-US" sz="1400" dirty="0"/>
          </a:p>
        </p:txBody>
      </p:sp>
      <p:sp>
        <p:nvSpPr>
          <p:cNvPr id="11" name="Shape 9"/>
          <p:cNvSpPr/>
          <p:nvPr/>
        </p:nvSpPr>
        <p:spPr>
          <a:xfrm>
            <a:off x="667512" y="2322576"/>
            <a:ext cx="0" cy="182880"/>
          </a:xfrm>
          <a:prstGeom prst="line">
            <a:avLst/>
          </a:prstGeom>
          <a:noFill/>
          <a:ln w="19050">
            <a:solidFill>
              <a:srgbClr val="DBDCD5"/>
            </a:solidFill>
            <a:prstDash val="solid"/>
          </a:ln>
        </p:spPr>
      </p:sp>
      <p:sp>
        <p:nvSpPr>
          <p:cNvPr id="12" name="Shape 10"/>
          <p:cNvSpPr/>
          <p:nvPr/>
        </p:nvSpPr>
        <p:spPr>
          <a:xfrm>
            <a:off x="457200" y="2542032"/>
            <a:ext cx="420624" cy="420624"/>
          </a:xfrm>
          <a:prstGeom prst="ellipse">
            <a:avLst/>
          </a:prstGeom>
          <a:solidFill>
            <a:srgbClr val="1C2321"/>
          </a:solidFill>
          <a:ln w="12700">
            <a:solidFill>
              <a:srgbClr val="1C2321"/>
            </a:solidFill>
            <a:prstDash val="solid"/>
          </a:ln>
        </p:spPr>
      </p:sp>
      <p:sp>
        <p:nvSpPr>
          <p:cNvPr id="13" name="Text 11"/>
          <p:cNvSpPr txBox="1"/>
          <p:nvPr/>
        </p:nvSpPr>
        <p:spPr>
          <a:xfrm>
            <a:off x="457200" y="2542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05840" y="2542032"/>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Giáo viên nhập điểm</a:t>
            </a:r>
            <a:endParaRPr lang="en-US" sz="1400" dirty="0"/>
          </a:p>
        </p:txBody>
      </p:sp>
      <p:sp>
        <p:nvSpPr>
          <p:cNvPr id="15" name="Shape 13"/>
          <p:cNvSpPr/>
          <p:nvPr/>
        </p:nvSpPr>
        <p:spPr>
          <a:xfrm>
            <a:off x="667512" y="2999232"/>
            <a:ext cx="0" cy="182880"/>
          </a:xfrm>
          <a:prstGeom prst="line">
            <a:avLst/>
          </a:prstGeom>
          <a:noFill/>
          <a:ln w="19050">
            <a:solidFill>
              <a:srgbClr val="DBDCD5"/>
            </a:solidFill>
            <a:prstDash val="solid"/>
          </a:ln>
        </p:spPr>
      </p:sp>
      <p:sp>
        <p:nvSpPr>
          <p:cNvPr id="16" name="Shape 14"/>
          <p:cNvSpPr/>
          <p:nvPr/>
        </p:nvSpPr>
        <p:spPr>
          <a:xfrm>
            <a:off x="457200" y="3218688"/>
            <a:ext cx="420624" cy="420624"/>
          </a:xfrm>
          <a:prstGeom prst="ellipse">
            <a:avLst/>
          </a:prstGeom>
          <a:solidFill>
            <a:srgbClr val="C98A1F"/>
          </a:solidFill>
          <a:ln w="12700">
            <a:solidFill>
              <a:srgbClr val="C98A1F"/>
            </a:solidFill>
            <a:prstDash val="solid"/>
          </a:ln>
        </p:spPr>
      </p:sp>
      <p:sp>
        <p:nvSpPr>
          <p:cNvPr id="17" name="Text 15"/>
          <p:cNvSpPr txBox="1"/>
          <p:nvPr/>
        </p:nvSpPr>
        <p:spPr>
          <a:xfrm>
            <a:off x="457200" y="3218688"/>
            <a:ext cx="420624" cy="420624"/>
          </a:xfrm>
          <a:prstGeom prst="rect">
            <a:avLst/>
          </a:prstGeom>
          <a:noFill/>
          <a:ln/>
        </p:spPr>
        <p:txBody>
          <a:bodyPr wrap="square" lIns="0" tIns="0" rIns="0" bIns="0" rtlCol="0" anchor="ctr"/>
          <a:lstStyle/>
          <a:p>
            <a:pPr algn="ctr" indent="0" marL="0">
              <a:buNone/>
            </a:pPr>
            <a:r>
              <a:rPr lang="en-US" sz="1500" b="1" dirty="0">
                <a:solidFill>
                  <a:srgbClr val="1C232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005840" y="3218688"/>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Bấm Chạy sắp xếp</a:t>
            </a:r>
            <a:endParaRPr lang="en-US" sz="1400" dirty="0"/>
          </a:p>
        </p:txBody>
      </p:sp>
      <p:sp>
        <p:nvSpPr>
          <p:cNvPr id="19" name="Shape 17"/>
          <p:cNvSpPr/>
          <p:nvPr/>
        </p:nvSpPr>
        <p:spPr>
          <a:xfrm>
            <a:off x="667512" y="3675888"/>
            <a:ext cx="0" cy="182880"/>
          </a:xfrm>
          <a:prstGeom prst="line">
            <a:avLst/>
          </a:prstGeom>
          <a:noFill/>
          <a:ln w="19050">
            <a:solidFill>
              <a:srgbClr val="DBDCD5"/>
            </a:solidFill>
            <a:prstDash val="solid"/>
          </a:ln>
        </p:spPr>
      </p:sp>
      <p:sp>
        <p:nvSpPr>
          <p:cNvPr id="20" name="Shape 18"/>
          <p:cNvSpPr/>
          <p:nvPr/>
        </p:nvSpPr>
        <p:spPr>
          <a:xfrm>
            <a:off x="457200" y="3895344"/>
            <a:ext cx="420624" cy="420624"/>
          </a:xfrm>
          <a:prstGeom prst="ellipse">
            <a:avLst/>
          </a:prstGeom>
          <a:solidFill>
            <a:srgbClr val="1C2321"/>
          </a:solidFill>
          <a:ln w="12700">
            <a:solidFill>
              <a:srgbClr val="1C2321"/>
            </a:solidFill>
            <a:prstDash val="solid"/>
          </a:ln>
        </p:spPr>
      </p:sp>
      <p:sp>
        <p:nvSpPr>
          <p:cNvPr id="21" name="Text 19"/>
          <p:cNvSpPr txBox="1"/>
          <p:nvPr/>
        </p:nvSpPr>
        <p:spPr>
          <a:xfrm>
            <a:off x="457200" y="3895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005840" y="3895344"/>
            <a:ext cx="2377440" cy="420624"/>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Xuất kết quả</a:t>
            </a:r>
            <a:endParaRPr lang="en-US" sz="1400" dirty="0"/>
          </a:p>
        </p:txBody>
      </p:sp>
      <p:pic>
        <p:nvPicPr>
          <p:cNvPr id="23" name="Image 0" descr="/tmp/claude-0/-home-user-rbda-kiosk/30f99193-b3ff-5853-a228-d09690c4e584/scratchpad/shots/c_cb_pipeline.png">    </p:cNvPr>
          <p:cNvPicPr>
            <a:picLocks noChangeAspect="1"/>
          </p:cNvPicPr>
          <p:nvPr/>
        </p:nvPicPr>
        <p:blipFill>
          <a:blip r:embed="rId1"/>
          <a:stretch>
            <a:fillRect/>
          </a:stretch>
        </p:blipFill>
        <p:spPr>
          <a:xfrm>
            <a:off x="3611880" y="1280160"/>
            <a:ext cx="5074920" cy="2435257"/>
          </a:xfrm>
          <a:prstGeom prst="rect">
            <a:avLst/>
          </a:prstGeom>
          <a:effectLst>
            <a:outerShdw sx="100000" sy="100000" kx="0" ky="0" algn="bl" rotWithShape="0" blurRad="101600" dist="25400" dir="5400000">
              <a:srgbClr val="000000">
                <a:alpha val="18000"/>
              </a:srgbClr>
            </a:outerShdw>
          </a:effectLst>
        </p:spPr>
      </p:pic>
      <p:sp>
        <p:nvSpPr>
          <p:cNvPr id="24" name="Text 21"/>
          <p:cNvSpPr txBox="1"/>
          <p:nvPr/>
        </p:nvSpPr>
        <p:spPr>
          <a:xfrm>
            <a:off x="3611880" y="3806857"/>
            <a:ext cx="507492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Màn hình Vận hành sắp xếp. Ở đây phần mềm cảnh báo 15 học sinh chưa ghi nguyện vọng nào.</a:t>
            </a:r>
            <a:endParaRPr lang="en-US" sz="1000" dirty="0"/>
          </a:p>
        </p:txBody>
      </p:sp>
      <p:sp>
        <p:nvSpPr>
          <p:cNvPr id="25" name="Text 22"/>
          <p:cNvSpPr txBox="1"/>
          <p:nvPr/>
        </p:nvSpPr>
        <p:spPr>
          <a:xfrm>
            <a:off x="3611880" y="4206240"/>
            <a:ext cx="5074920" cy="365760"/>
          </a:xfrm>
          <a:prstGeom prst="rect">
            <a:avLst/>
          </a:prstGeom>
          <a:noFill/>
          <a:ln/>
        </p:spPr>
        <p:txBody>
          <a:bodyPr wrap="square" lIns="0" tIns="0" rIns="0" bIns="0" rtlCol="0" anchor="ctr"/>
          <a:lstStyle/>
          <a:p>
            <a:pPr indent="0" marL="0">
              <a:buNone/>
            </a:pPr>
            <a:r>
              <a:rPr lang="en-US" sz="1200" b="1" dirty="0">
                <a:solidFill>
                  <a:srgbClr val="3F6B52"/>
                </a:solidFill>
                <a:latin typeface="Calibri" pitchFamily="34" charset="0"/>
                <a:ea typeface="Calibri" pitchFamily="34" charset="-122"/>
                <a:cs typeface="Calibri" pitchFamily="34" charset="-120"/>
              </a:rPr>
              <a:t>Với 200 học sinh và 6 buổi, bước chạy và xuất kết quả xong trong chưa đầy một giây.</a:t>
            </a:r>
            <a:endParaRPr lang="en-US" sz="1200" dirty="0"/>
          </a:p>
        </p:txBody>
      </p:sp>
      <p:sp>
        <p:nvSpPr>
          <p:cNvPr id="26" name="Text 23"/>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8</a:t>
            </a:r>
            <a:endParaRPr lang="en-US" sz="1000" dirty="0"/>
          </a:p>
        </p:txBody>
      </p:sp>
      <p:sp>
        <p:nvSpPr>
          <p:cNvPr id="27" name="Text 24"/>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4.2.2.6, Sơ đồ 2 (vòng đời một lần chạy)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KẾT QUẢ</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Nhìn vào là biết CLB nào đã đủ người</a:t>
            </a:r>
            <a:endParaRPr lang="en-US" sz="3000" dirty="0"/>
          </a:p>
        </p:txBody>
      </p:sp>
      <p:pic>
        <p:nvPicPr>
          <p:cNvPr id="4" name="Image 0" descr="/tmp/claude-0/-home-user-rbda-kiosk/30f99193-b3ff-5853-a228-d09690c4e584/scratchpad/shots/c_cb_results.png">    </p:cNvPr>
          <p:cNvPicPr>
            <a:picLocks noChangeAspect="1"/>
          </p:cNvPicPr>
          <p:nvPr/>
        </p:nvPicPr>
        <p:blipFill>
          <a:blip r:embed="rId1"/>
          <a:stretch>
            <a:fillRect/>
          </a:stretch>
        </p:blipFill>
        <p:spPr>
          <a:xfrm>
            <a:off x="457200" y="1234440"/>
            <a:ext cx="4937760" cy="2420941"/>
          </a:xfrm>
          <a:prstGeom prst="rect">
            <a:avLst/>
          </a:prstGeom>
          <a:effectLst>
            <a:outerShdw sx="100000" sy="100000" kx="0" ky="0" algn="bl" rotWithShape="0" blurRad="101600" dist="25400" dir="5400000">
              <a:srgbClr val="000000">
                <a:alpha val="18000"/>
              </a:srgbClr>
            </a:outerShdw>
          </a:effectLst>
        </p:spPr>
      </p:pic>
      <p:sp>
        <p:nvSpPr>
          <p:cNvPr id="5" name="Text 2"/>
          <p:cNvSpPr txBox="1"/>
          <p:nvPr/>
        </p:nvSpPr>
        <p:spPr>
          <a:xfrm>
            <a:off x="457200" y="3746821"/>
            <a:ext cx="493776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Màu xanh: xét chung. Màu vàng: vào bằng suất dự trữ. Dữ liệu mô phỏng, 200 học sinh.</a:t>
            </a:r>
            <a:endParaRPr lang="en-US" sz="1000" dirty="0"/>
          </a:p>
        </p:txBody>
      </p:sp>
      <p:sp>
        <p:nvSpPr>
          <p:cNvPr id="6" name="Shape 3"/>
          <p:cNvSpPr/>
          <p:nvPr/>
        </p:nvSpPr>
        <p:spPr>
          <a:xfrm>
            <a:off x="5760720" y="1280160"/>
            <a:ext cx="384048" cy="384048"/>
          </a:xfrm>
          <a:prstGeom prst="ellipse">
            <a:avLst/>
          </a:prstGeom>
          <a:solidFill>
            <a:srgbClr val="DCE9E0"/>
          </a:solidFill>
          <a:ln w="12700">
            <a:solidFill>
              <a:srgbClr val="DCE9E0"/>
            </a:solidFill>
            <a:prstDash val="solid"/>
          </a:ln>
        </p:spPr>
      </p:sp>
      <p:pic>
        <p:nvPicPr>
          <p:cNvPr id="7" name="Image 1" descr="preencoded.png">    </p:cNvPr>
          <p:cNvPicPr>
            <a:picLocks noChangeAspect="1"/>
          </p:cNvPicPr>
          <p:nvPr/>
        </p:nvPicPr>
        <p:blipFill>
          <a:blip r:embed="rId2"/>
          <a:stretch>
            <a:fillRect/>
          </a:stretch>
        </p:blipFill>
        <p:spPr>
          <a:xfrm>
            <a:off x="5860572" y="1380012"/>
            <a:ext cx="184343" cy="184343"/>
          </a:xfrm>
          <a:prstGeom prst="rect">
            <a:avLst/>
          </a:prstGeom>
        </p:spPr>
      </p:pic>
      <p:sp>
        <p:nvSpPr>
          <p:cNvPr id="8" name="Text 4"/>
          <p:cNvSpPr txBox="1"/>
          <p:nvPr/>
        </p:nvSpPr>
        <p:spPr>
          <a:xfrm>
            <a:off x="6309360" y="123444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Mức lấp đầy của từng CLB</a:t>
            </a:r>
            <a:endParaRPr lang="en-US" sz="1300" dirty="0"/>
          </a:p>
        </p:txBody>
      </p:sp>
      <p:sp>
        <p:nvSpPr>
          <p:cNvPr id="9" name="Text 5"/>
          <p:cNvSpPr txBox="1"/>
          <p:nvPr/>
        </p:nvSpPr>
        <p:spPr>
          <a:xfrm>
            <a:off x="6309360" y="150876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kèm số chỗ dùng cho suất dự trữ</a:t>
            </a:r>
            <a:endParaRPr lang="en-US" sz="1100" dirty="0"/>
          </a:p>
        </p:txBody>
      </p:sp>
      <p:sp>
        <p:nvSpPr>
          <p:cNvPr id="10" name="Shape 6"/>
          <p:cNvSpPr/>
          <p:nvPr/>
        </p:nvSpPr>
        <p:spPr>
          <a:xfrm>
            <a:off x="5760720" y="2103120"/>
            <a:ext cx="384048" cy="384048"/>
          </a:xfrm>
          <a:prstGeom prst="ellipse">
            <a:avLst/>
          </a:prstGeom>
          <a:solidFill>
            <a:srgbClr val="DCE9E0"/>
          </a:solidFill>
          <a:ln w="12700">
            <a:solidFill>
              <a:srgbClr val="DCE9E0"/>
            </a:solidFill>
            <a:prstDash val="solid"/>
          </a:ln>
        </p:spPr>
      </p:sp>
      <p:pic>
        <p:nvPicPr>
          <p:cNvPr id="11" name="Image 2" descr="preencoded.png">    </p:cNvPr>
          <p:cNvPicPr>
            <a:picLocks noChangeAspect="1"/>
          </p:cNvPicPr>
          <p:nvPr/>
        </p:nvPicPr>
        <p:blipFill>
          <a:blip r:embed="rId3"/>
          <a:stretch>
            <a:fillRect/>
          </a:stretch>
        </p:blipFill>
        <p:spPr>
          <a:xfrm>
            <a:off x="5860572" y="2202972"/>
            <a:ext cx="184343" cy="184343"/>
          </a:xfrm>
          <a:prstGeom prst="rect">
            <a:avLst/>
          </a:prstGeom>
        </p:spPr>
      </p:pic>
      <p:sp>
        <p:nvSpPr>
          <p:cNvPr id="12" name="Text 7"/>
          <p:cNvSpPr txBox="1"/>
          <p:nvPr/>
        </p:nvSpPr>
        <p:spPr>
          <a:xfrm>
            <a:off x="6309360" y="205740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Được nguyện vọng thứ mấy</a:t>
            </a:r>
            <a:endParaRPr lang="en-US" sz="1300" dirty="0"/>
          </a:p>
        </p:txBody>
      </p:sp>
      <p:sp>
        <p:nvSpPr>
          <p:cNvPr id="13" name="Text 8"/>
          <p:cNvSpPr txBox="1"/>
          <p:nvPr/>
        </p:nvSpPr>
        <p:spPr>
          <a:xfrm>
            <a:off x="6309360" y="233172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cho thấy học sinh hài lòng đến đâu</a:t>
            </a:r>
            <a:endParaRPr lang="en-US" sz="1100" dirty="0"/>
          </a:p>
        </p:txBody>
      </p:sp>
      <p:sp>
        <p:nvSpPr>
          <p:cNvPr id="14" name="Shape 9"/>
          <p:cNvSpPr/>
          <p:nvPr/>
        </p:nvSpPr>
        <p:spPr>
          <a:xfrm>
            <a:off x="5760720" y="2926080"/>
            <a:ext cx="384048" cy="384048"/>
          </a:xfrm>
          <a:prstGeom prst="ellipse">
            <a:avLst/>
          </a:prstGeom>
          <a:solidFill>
            <a:srgbClr val="DCE9E0"/>
          </a:solidFill>
          <a:ln w="12700">
            <a:solidFill>
              <a:srgbClr val="DCE9E0"/>
            </a:solidFill>
            <a:prstDash val="solid"/>
          </a:ln>
        </p:spPr>
      </p:sp>
      <p:pic>
        <p:nvPicPr>
          <p:cNvPr id="15" name="Image 3" descr="preencoded.png">    </p:cNvPr>
          <p:cNvPicPr>
            <a:picLocks noChangeAspect="1"/>
          </p:cNvPicPr>
          <p:nvPr/>
        </p:nvPicPr>
        <p:blipFill>
          <a:blip r:embed="rId4"/>
          <a:stretch>
            <a:fillRect/>
          </a:stretch>
        </p:blipFill>
        <p:spPr>
          <a:xfrm>
            <a:off x="5860572" y="3025932"/>
            <a:ext cx="184343" cy="184343"/>
          </a:xfrm>
          <a:prstGeom prst="rect">
            <a:avLst/>
          </a:prstGeom>
        </p:spPr>
      </p:pic>
      <p:sp>
        <p:nvSpPr>
          <p:cNvPr id="16" name="Text 10"/>
          <p:cNvSpPr txBox="1"/>
          <p:nvPr/>
        </p:nvSpPr>
        <p:spPr>
          <a:xfrm>
            <a:off x="6309360" y="288036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Học sinh chưa có chỗ</a:t>
            </a:r>
            <a:endParaRPr lang="en-US" sz="1300" dirty="0"/>
          </a:p>
        </p:txBody>
      </p:sp>
      <p:sp>
        <p:nvSpPr>
          <p:cNvPr id="17" name="Text 11"/>
          <p:cNvSpPr txBox="1"/>
          <p:nvPr/>
        </p:nvSpPr>
        <p:spPr>
          <a:xfrm>
            <a:off x="6309360" y="315468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danh sách để nhà trường xử lý tiếp</a:t>
            </a:r>
            <a:endParaRPr lang="en-US" sz="1100" dirty="0"/>
          </a:p>
        </p:txBody>
      </p:sp>
      <p:sp>
        <p:nvSpPr>
          <p:cNvPr id="18" name="Shape 12"/>
          <p:cNvSpPr/>
          <p:nvPr/>
        </p:nvSpPr>
        <p:spPr>
          <a:xfrm>
            <a:off x="5760720" y="3749040"/>
            <a:ext cx="384048" cy="384048"/>
          </a:xfrm>
          <a:prstGeom prst="ellipse">
            <a:avLst/>
          </a:prstGeom>
          <a:solidFill>
            <a:srgbClr val="DCE9E0"/>
          </a:solidFill>
          <a:ln w="12700">
            <a:solidFill>
              <a:srgbClr val="DCE9E0"/>
            </a:solidFill>
            <a:prstDash val="solid"/>
          </a:ln>
        </p:spPr>
      </p:sp>
      <p:pic>
        <p:nvPicPr>
          <p:cNvPr id="19" name="Image 4" descr="preencoded.png">    </p:cNvPr>
          <p:cNvPicPr>
            <a:picLocks noChangeAspect="1"/>
          </p:cNvPicPr>
          <p:nvPr/>
        </p:nvPicPr>
        <p:blipFill>
          <a:blip r:embed="rId5"/>
          <a:stretch>
            <a:fillRect/>
          </a:stretch>
        </p:blipFill>
        <p:spPr>
          <a:xfrm>
            <a:off x="5860572" y="3848892"/>
            <a:ext cx="184343" cy="184343"/>
          </a:xfrm>
          <a:prstGeom prst="rect">
            <a:avLst/>
          </a:prstGeom>
        </p:spPr>
      </p:pic>
      <p:sp>
        <p:nvSpPr>
          <p:cNvPr id="20" name="Text 13"/>
          <p:cNvSpPr txBox="1"/>
          <p:nvPr/>
        </p:nvSpPr>
        <p:spPr>
          <a:xfrm>
            <a:off x="6309360" y="3703320"/>
            <a:ext cx="2377440" cy="27432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Tệp riêng cho từng CLB</a:t>
            </a:r>
            <a:endParaRPr lang="en-US" sz="1300" dirty="0"/>
          </a:p>
        </p:txBody>
      </p:sp>
      <p:sp>
        <p:nvSpPr>
          <p:cNvPr id="21" name="Text 14"/>
          <p:cNvSpPr txBox="1"/>
          <p:nvPr/>
        </p:nvSpPr>
        <p:spPr>
          <a:xfrm>
            <a:off x="6309360" y="3977640"/>
            <a:ext cx="2377440" cy="41148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gửi thẳng cho giáo viên phụ trách</a:t>
            </a:r>
            <a:endParaRPr lang="en-US" sz="1100" dirty="0"/>
          </a:p>
        </p:txBody>
      </p:sp>
      <p:sp>
        <p:nvSpPr>
          <p:cNvPr id="22"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CHẠY THỬ</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Chạy thử: 200 học sinh, 24 CLB, 6 buổi</a:t>
            </a:r>
            <a:endParaRPr lang="en-US" sz="3000" dirty="0"/>
          </a:p>
        </p:txBody>
      </p:sp>
      <p:sp>
        <p:nvSpPr>
          <p:cNvPr id="4" name="Text 2"/>
          <p:cNvSpPr txBox="1"/>
          <p:nvPr/>
        </p:nvSpPr>
        <p:spPr>
          <a:xfrm>
            <a:off x="457200" y="1143000"/>
            <a:ext cx="1737360" cy="502920"/>
          </a:xfrm>
          <a:prstGeom prst="rect">
            <a:avLst/>
          </a:prstGeom>
          <a:noFill/>
          <a:ln/>
        </p:spPr>
        <p:txBody>
          <a:bodyPr wrap="square" lIns="0" tIns="0" rIns="0" bIns="0" rtlCol="0" anchor="ctr"/>
          <a:lstStyle/>
          <a:p>
            <a:pPr indent="0" marL="0">
              <a:buNone/>
            </a:pPr>
            <a:r>
              <a:rPr lang="en-US" sz="2600" b="1" dirty="0">
                <a:solidFill>
                  <a:srgbClr val="3F6B52"/>
                </a:solidFill>
                <a:latin typeface="Cambria" pitchFamily="34" charset="0"/>
                <a:ea typeface="Cambria" pitchFamily="34" charset="-122"/>
                <a:cs typeface="Cambria" pitchFamily="34" charset="-120"/>
              </a:rPr>
              <a:t>182/185</a:t>
            </a:r>
            <a:endParaRPr lang="en-US" sz="2600" dirty="0"/>
          </a:p>
        </p:txBody>
      </p:sp>
      <p:sp>
        <p:nvSpPr>
          <p:cNvPr id="5" name="Text 3"/>
          <p:cNvSpPr txBox="1"/>
          <p:nvPr/>
        </p:nvSpPr>
        <p:spPr>
          <a:xfrm>
            <a:off x="2148840" y="1143000"/>
            <a:ext cx="1828800" cy="502920"/>
          </a:xfrm>
          <a:prstGeom prst="rect">
            <a:avLst/>
          </a:prstGeom>
          <a:noFill/>
          <a:ln/>
        </p:spPr>
        <p:txBody>
          <a:bodyPr wrap="square" lIns="0" tIns="0" rIns="0" bIns="0" rtlCol="0" anchor="ctr"/>
          <a:lstStyle/>
          <a:p>
            <a:pPr indent="0" marL="0">
              <a:buNone/>
            </a:pPr>
            <a:r>
              <a:rPr lang="en-US" sz="1150" dirty="0">
                <a:solidFill>
                  <a:srgbClr val="3A423F"/>
                </a:solidFill>
                <a:latin typeface="Calibri" pitchFamily="34" charset="0"/>
                <a:ea typeface="Calibri" pitchFamily="34" charset="-122"/>
                <a:cs typeface="Calibri" pitchFamily="34" charset="-120"/>
              </a:rPr>
              <a:t>học sinh có đăng ký đã có CLB</a:t>
            </a:r>
            <a:endParaRPr lang="en-US" sz="1150" dirty="0"/>
          </a:p>
        </p:txBody>
      </p:sp>
      <p:sp>
        <p:nvSpPr>
          <p:cNvPr id="6" name="Text 4"/>
          <p:cNvSpPr txBox="1"/>
          <p:nvPr/>
        </p:nvSpPr>
        <p:spPr>
          <a:xfrm>
            <a:off x="457200" y="1783080"/>
            <a:ext cx="1737360" cy="502920"/>
          </a:xfrm>
          <a:prstGeom prst="rect">
            <a:avLst/>
          </a:prstGeom>
          <a:noFill/>
          <a:ln/>
        </p:spPr>
        <p:txBody>
          <a:bodyPr wrap="square" lIns="0" tIns="0" rIns="0" bIns="0" rtlCol="0" anchor="ctr"/>
          <a:lstStyle/>
          <a:p>
            <a:pPr indent="0" marL="0">
              <a:buNone/>
            </a:pPr>
            <a:r>
              <a:rPr lang="en-US" sz="2600" b="1" dirty="0">
                <a:solidFill>
                  <a:srgbClr val="3F6B52"/>
                </a:solidFill>
                <a:latin typeface="Cambria" pitchFamily="34" charset="0"/>
                <a:ea typeface="Cambria" pitchFamily="34" charset="-122"/>
                <a:cs typeface="Cambria" pitchFamily="34" charset="-120"/>
              </a:rPr>
              <a:t>75%</a:t>
            </a:r>
            <a:endParaRPr lang="en-US" sz="2600" dirty="0"/>
          </a:p>
        </p:txBody>
      </p:sp>
      <p:sp>
        <p:nvSpPr>
          <p:cNvPr id="7" name="Text 5"/>
          <p:cNvSpPr txBox="1"/>
          <p:nvPr/>
        </p:nvSpPr>
        <p:spPr>
          <a:xfrm>
            <a:off x="2148840" y="1783080"/>
            <a:ext cx="1828800" cy="502920"/>
          </a:xfrm>
          <a:prstGeom prst="rect">
            <a:avLst/>
          </a:prstGeom>
          <a:noFill/>
          <a:ln/>
        </p:spPr>
        <p:txBody>
          <a:bodyPr wrap="square" lIns="0" tIns="0" rIns="0" bIns="0" rtlCol="0" anchor="ctr"/>
          <a:lstStyle/>
          <a:p>
            <a:pPr indent="0" marL="0">
              <a:buNone/>
            </a:pPr>
            <a:r>
              <a:rPr lang="en-US" sz="1150" dirty="0">
                <a:solidFill>
                  <a:srgbClr val="3A423F"/>
                </a:solidFill>
                <a:latin typeface="Calibri" pitchFamily="34" charset="0"/>
                <a:ea typeface="Calibri" pitchFamily="34" charset="-122"/>
                <a:cs typeface="Calibri" pitchFamily="34" charset="-120"/>
              </a:rPr>
              <a:t>lượt xếp đúng nguyện vọng 1</a:t>
            </a:r>
            <a:endParaRPr lang="en-US" sz="1150" dirty="0"/>
          </a:p>
        </p:txBody>
      </p:sp>
      <p:sp>
        <p:nvSpPr>
          <p:cNvPr id="8" name="Text 6"/>
          <p:cNvSpPr txBox="1"/>
          <p:nvPr/>
        </p:nvSpPr>
        <p:spPr>
          <a:xfrm>
            <a:off x="457200" y="2423160"/>
            <a:ext cx="1737360" cy="502920"/>
          </a:xfrm>
          <a:prstGeom prst="rect">
            <a:avLst/>
          </a:prstGeom>
          <a:noFill/>
          <a:ln/>
        </p:spPr>
        <p:txBody>
          <a:bodyPr wrap="square" lIns="0" tIns="0" rIns="0" bIns="0" rtlCol="0" anchor="ctr"/>
          <a:lstStyle/>
          <a:p>
            <a:pPr indent="0" marL="0">
              <a:buNone/>
            </a:pPr>
            <a:r>
              <a:rPr lang="en-US" sz="2600" b="1" dirty="0">
                <a:solidFill>
                  <a:srgbClr val="3F6B52"/>
                </a:solidFill>
                <a:latin typeface="Cambria" pitchFamily="34" charset="0"/>
                <a:ea typeface="Cambria" pitchFamily="34" charset="-122"/>
                <a:cs typeface="Cambria" pitchFamily="34" charset="-120"/>
              </a:rPr>
              <a:t>3,1</a:t>
            </a:r>
            <a:endParaRPr lang="en-US" sz="2600" dirty="0"/>
          </a:p>
        </p:txBody>
      </p:sp>
      <p:sp>
        <p:nvSpPr>
          <p:cNvPr id="9" name="Text 7"/>
          <p:cNvSpPr txBox="1"/>
          <p:nvPr/>
        </p:nvSpPr>
        <p:spPr>
          <a:xfrm>
            <a:off x="2148840" y="2423160"/>
            <a:ext cx="1828800" cy="502920"/>
          </a:xfrm>
          <a:prstGeom prst="rect">
            <a:avLst/>
          </a:prstGeom>
          <a:noFill/>
          <a:ln/>
        </p:spPr>
        <p:txBody>
          <a:bodyPr wrap="square" lIns="0" tIns="0" rIns="0" bIns="0" rtlCol="0" anchor="ctr"/>
          <a:lstStyle/>
          <a:p>
            <a:pPr indent="0" marL="0">
              <a:buNone/>
            </a:pPr>
            <a:r>
              <a:rPr lang="en-US" sz="1150" dirty="0">
                <a:solidFill>
                  <a:srgbClr val="3A423F"/>
                </a:solidFill>
                <a:latin typeface="Calibri" pitchFamily="34" charset="0"/>
                <a:ea typeface="Calibri" pitchFamily="34" charset="-122"/>
                <a:cs typeface="Calibri" pitchFamily="34" charset="-120"/>
              </a:rPr>
              <a:t>CLB mỗi học sinh, tính trung bình</a:t>
            </a:r>
            <a:endParaRPr lang="en-US" sz="1150" dirty="0"/>
          </a:p>
        </p:txBody>
      </p:sp>
      <p:sp>
        <p:nvSpPr>
          <p:cNvPr id="10" name="Text 8"/>
          <p:cNvSpPr txBox="1"/>
          <p:nvPr/>
        </p:nvSpPr>
        <p:spPr>
          <a:xfrm>
            <a:off x="457200" y="3063240"/>
            <a:ext cx="1737360" cy="502920"/>
          </a:xfrm>
          <a:prstGeom prst="rect">
            <a:avLst/>
          </a:prstGeom>
          <a:noFill/>
          <a:ln/>
        </p:spPr>
        <p:txBody>
          <a:bodyPr wrap="square" lIns="0" tIns="0" rIns="0" bIns="0" rtlCol="0" anchor="ctr"/>
          <a:lstStyle/>
          <a:p>
            <a:pPr indent="0" marL="0">
              <a:buNone/>
            </a:pPr>
            <a:r>
              <a:rPr lang="en-US" sz="2600" b="1" dirty="0">
                <a:solidFill>
                  <a:srgbClr val="3F6B52"/>
                </a:solidFill>
                <a:latin typeface="Cambria" pitchFamily="34" charset="0"/>
                <a:ea typeface="Cambria" pitchFamily="34" charset="-122"/>
                <a:cs typeface="Cambria" pitchFamily="34" charset="-120"/>
              </a:rPr>
              <a:t>0,04 s</a:t>
            </a:r>
            <a:endParaRPr lang="en-US" sz="2600" dirty="0"/>
          </a:p>
        </p:txBody>
      </p:sp>
      <p:sp>
        <p:nvSpPr>
          <p:cNvPr id="11" name="Text 9"/>
          <p:cNvSpPr txBox="1"/>
          <p:nvPr/>
        </p:nvSpPr>
        <p:spPr>
          <a:xfrm>
            <a:off x="2148840" y="3063240"/>
            <a:ext cx="1828800" cy="502920"/>
          </a:xfrm>
          <a:prstGeom prst="rect">
            <a:avLst/>
          </a:prstGeom>
          <a:noFill/>
          <a:ln/>
        </p:spPr>
        <p:txBody>
          <a:bodyPr wrap="square" lIns="0" tIns="0" rIns="0" bIns="0" rtlCol="0" anchor="ctr"/>
          <a:lstStyle/>
          <a:p>
            <a:pPr indent="0" marL="0">
              <a:buNone/>
            </a:pPr>
            <a:r>
              <a:rPr lang="en-US" sz="1150" dirty="0">
                <a:solidFill>
                  <a:srgbClr val="3A423F"/>
                </a:solidFill>
                <a:latin typeface="Calibri" pitchFamily="34" charset="0"/>
                <a:ea typeface="Calibri" pitchFamily="34" charset="-122"/>
                <a:cs typeface="Calibri" pitchFamily="34" charset="-120"/>
              </a:rPr>
              <a:t>thời gian chạy</a:t>
            </a:r>
            <a:endParaRPr lang="en-US" sz="1150" dirty="0"/>
          </a:p>
        </p:txBody>
      </p:sp>
      <p:sp>
        <p:nvSpPr>
          <p:cNvPr id="12" name="Shape 10"/>
          <p:cNvSpPr/>
          <p:nvPr/>
        </p:nvSpPr>
        <p:spPr>
          <a:xfrm>
            <a:off x="4160520" y="1097280"/>
            <a:ext cx="4526280" cy="2606040"/>
          </a:xfrm>
          <a:prstGeom prst="roundRect">
            <a:avLst>
              <a:gd name="adj" fmla="val 2807"/>
            </a:avLst>
          </a:prstGeom>
          <a:solidFill>
            <a:srgbClr val="FFFFFF"/>
          </a:solidFill>
          <a:ln w="9525">
            <a:solidFill>
              <a:srgbClr val="DBDCD5"/>
            </a:solidFill>
            <a:prstDash val="solid"/>
          </a:ln>
        </p:spPr>
      </p:sp>
      <p:graphicFrame>
        <p:nvGraphicFramePr>
          <p:cNvPr id="13" name="Chart 0" descr=""/>
          <p:cNvGraphicFramePr/>
          <p:nvPr/>
        </p:nvGraphicFramePr>
        <p:xfrm>
          <a:off x="4297680" y="1170432"/>
          <a:ext cx="4251960" cy="246888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457200" y="3794760"/>
            <a:ext cx="8229600" cy="502920"/>
          </a:xfrm>
          <a:prstGeom prst="roundRect">
            <a:avLst>
              <a:gd name="adj" fmla="val 14545"/>
            </a:avLst>
          </a:prstGeom>
          <a:solidFill>
            <a:srgbClr val="FFFFFF"/>
          </a:solidFill>
          <a:ln w="9525">
            <a:solidFill>
              <a:srgbClr val="DBDCD5"/>
            </a:solidFill>
            <a:prstDash val="solid"/>
          </a:ln>
        </p:spPr>
      </p:sp>
      <p:sp>
        <p:nvSpPr>
          <p:cNvPr id="15" name="Text 12"/>
          <p:cNvSpPr txBox="1"/>
          <p:nvPr/>
        </p:nvSpPr>
        <p:spPr>
          <a:xfrm>
            <a:off x="640080" y="3794760"/>
            <a:ext cx="7863840" cy="502920"/>
          </a:xfrm>
          <a:prstGeom prst="rect">
            <a:avLst/>
          </a:prstGeom>
          <a:noFill/>
          <a:ln/>
        </p:spPr>
        <p:txBody>
          <a:bodyPr wrap="square" lIns="0" tIns="0" rIns="0" bIns="0" rtlCol="0" anchor="ctr"/>
          <a:lstStyle/>
          <a:p>
            <a:pPr indent="0" marL="0">
              <a:buNone/>
            </a:pPr>
            <a:r>
              <a:rPr lang="en-US" sz="1100" b="1" dirty="0">
                <a:solidFill>
                  <a:srgbClr val="1C2321"/>
                </a:solidFill>
                <a:latin typeface="Calibri" pitchFamily="34" charset="0"/>
                <a:ea typeface="Calibri" pitchFamily="34" charset="-122"/>
                <a:cs typeface="Calibri" pitchFamily="34" charset="-120"/>
              </a:rPr>
              <a:t>So sánh với bộ cạnh tranh cao </a:t>
            </a:r>
            <a:pPr indent="0" marL="0">
              <a:buNone/>
            </a:pPr>
            <a:r>
              <a:rPr lang="en-US" sz="1100" dirty="0">
                <a:solidFill>
                  <a:srgbClr val="3A423F"/>
                </a:solidFill>
                <a:latin typeface="Calibri" pitchFamily="34" charset="0"/>
                <a:ea typeface="Calibri" pitchFamily="34" charset="-122"/>
                <a:cs typeface="Calibri" pitchFamily="34" charset="-120"/>
              </a:rPr>
              <a:t>(120 học sinh, 1 buổi, cố ý thiếu chỗ ở 4 CLB): 108/120 học sinh có CLB, 59% được nguyện vọng 1.</a:t>
            </a:r>
            <a:endParaRPr lang="en-US" sz="1100" dirty="0"/>
          </a:p>
        </p:txBody>
      </p:sp>
      <p:sp>
        <p:nvSpPr>
          <p:cNvPr id="16" name="Shape 13"/>
          <p:cNvSpPr/>
          <p:nvPr/>
        </p:nvSpPr>
        <p:spPr>
          <a:xfrm>
            <a:off x="457200" y="4389120"/>
            <a:ext cx="7726680" cy="347472"/>
          </a:xfrm>
          <a:prstGeom prst="roundRect">
            <a:avLst>
              <a:gd name="adj" fmla="val 15789"/>
            </a:avLst>
          </a:prstGeom>
          <a:solidFill>
            <a:srgbClr val="F3DCD9"/>
          </a:solidFill>
          <a:ln w="12700">
            <a:solidFill>
              <a:srgbClr val="F3DCD9"/>
            </a:solidFill>
            <a:prstDash val="solid"/>
          </a:ln>
        </p:spPr>
      </p:sp>
      <p:sp>
        <p:nvSpPr>
          <p:cNvPr id="17" name="Text 14"/>
          <p:cNvSpPr txBox="1"/>
          <p:nvPr/>
        </p:nvSpPr>
        <p:spPr>
          <a:xfrm>
            <a:off x="640080" y="4389120"/>
            <a:ext cx="7406640" cy="347472"/>
          </a:xfrm>
          <a:prstGeom prst="rect">
            <a:avLst/>
          </a:prstGeom>
          <a:noFill/>
          <a:ln/>
        </p:spPr>
        <p:txBody>
          <a:bodyPr wrap="square" lIns="0" tIns="0" rIns="0" bIns="0" rtlCol="0" anchor="ctr"/>
          <a:lstStyle/>
          <a:p>
            <a:pPr indent="0" marL="0">
              <a:buNone/>
            </a:pPr>
            <a:r>
              <a:rPr lang="en-US" sz="1050" b="1" dirty="0">
                <a:solidFill>
                  <a:srgbClr val="B84A3E"/>
                </a:solidFill>
                <a:latin typeface="Calibri" pitchFamily="34" charset="0"/>
                <a:ea typeface="Calibri" pitchFamily="34" charset="-122"/>
                <a:cs typeface="Calibri" pitchFamily="34" charset="-120"/>
              </a:rPr>
              <a:t>Dữ liệu mô phỏng.</a:t>
            </a:r>
            <a:pPr indent="0" marL="0">
              <a:buNone/>
            </a:pPr>
            <a:r>
              <a:rPr lang="en-US" sz="1050" dirty="0">
                <a:solidFill>
                  <a:srgbClr val="3A423F"/>
                </a:solidFill>
                <a:latin typeface="Calibri" pitchFamily="34" charset="0"/>
                <a:ea typeface="Calibri" pitchFamily="34" charset="-122"/>
                <a:cs typeface="Calibri" pitchFamily="34" charset="-120"/>
              </a:rPr>
              <a:t> Cả hai bộ do máy tạo ra để thử thuật toán, không phải số liệu thật của học sinh trong trường.</a:t>
            </a:r>
            <a:endParaRPr lang="en-US" sz="1050" dirty="0"/>
          </a:p>
        </p:txBody>
      </p:sp>
      <p:sp>
        <p:nvSpPr>
          <p:cNvPr id="18"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THỬ Ở QUY MÔ LỚN</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Thử tải tới 5 000 học sinh và 100 CLB</a:t>
            </a:r>
            <a:endParaRPr lang="en-US" sz="3000" dirty="0"/>
          </a:p>
        </p:txBody>
      </p:sp>
      <p:sp>
        <p:nvSpPr>
          <p:cNvPr id="4" name="Shape 2"/>
          <p:cNvSpPr/>
          <p:nvPr/>
        </p:nvSpPr>
        <p:spPr>
          <a:xfrm>
            <a:off x="457200" y="1143000"/>
            <a:ext cx="5120640" cy="3200400"/>
          </a:xfrm>
          <a:prstGeom prst="roundRect">
            <a:avLst>
              <a:gd name="adj" fmla="val 2286"/>
            </a:avLst>
          </a:prstGeom>
          <a:solidFill>
            <a:srgbClr val="FFFFFF"/>
          </a:solidFill>
          <a:ln w="9525">
            <a:solidFill>
              <a:srgbClr val="DBDCD5"/>
            </a:solidFill>
            <a:prstDash val="solid"/>
          </a:ln>
        </p:spPr>
      </p:sp>
      <p:graphicFrame>
        <p:nvGraphicFramePr>
          <p:cNvPr id="5" name="Chart 0" descr=""/>
          <p:cNvGraphicFramePr/>
          <p:nvPr/>
        </p:nvGraphicFramePr>
        <p:xfrm>
          <a:off x="548640" y="1188720"/>
          <a:ext cx="493776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852160" y="1188720"/>
            <a:ext cx="2834640" cy="45720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204</a:t>
            </a:r>
            <a:endParaRPr lang="en-US" sz="2800" dirty="0"/>
          </a:p>
        </p:txBody>
      </p:sp>
      <p:sp>
        <p:nvSpPr>
          <p:cNvPr id="7" name="Text 4"/>
          <p:cNvSpPr txBox="1"/>
          <p:nvPr/>
        </p:nvSpPr>
        <p:spPr>
          <a:xfrm>
            <a:off x="5852160" y="1645920"/>
            <a:ext cx="2834640" cy="45720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cấu hình đã thử, từ 200 tới 5 000 học sinh</a:t>
            </a:r>
            <a:endParaRPr lang="en-US" sz="1100" dirty="0"/>
          </a:p>
        </p:txBody>
      </p:sp>
      <p:sp>
        <p:nvSpPr>
          <p:cNvPr id="8" name="Text 5"/>
          <p:cNvSpPr txBox="1"/>
          <p:nvPr/>
        </p:nvSpPr>
        <p:spPr>
          <a:xfrm>
            <a:off x="5852160" y="2212848"/>
            <a:ext cx="2834640" cy="45720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0</a:t>
            </a:r>
            <a:endParaRPr lang="en-US" sz="2800" dirty="0"/>
          </a:p>
        </p:txBody>
      </p:sp>
      <p:sp>
        <p:nvSpPr>
          <p:cNvPr id="9" name="Text 6"/>
          <p:cNvSpPr txBox="1"/>
          <p:nvPr/>
        </p:nvSpPr>
        <p:spPr>
          <a:xfrm>
            <a:off x="5852160" y="2670048"/>
            <a:ext cx="2834640" cy="45720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cặp phá vỡ ở 5 000 học sinh, 100 CLB</a:t>
            </a:r>
            <a:endParaRPr lang="en-US" sz="1100" dirty="0"/>
          </a:p>
        </p:txBody>
      </p:sp>
      <p:sp>
        <p:nvSpPr>
          <p:cNvPr id="10" name="Text 7"/>
          <p:cNvSpPr txBox="1"/>
          <p:nvPr/>
        </p:nvSpPr>
        <p:spPr>
          <a:xfrm>
            <a:off x="5852160" y="3236976"/>
            <a:ext cx="2834640" cy="457200"/>
          </a:xfrm>
          <a:prstGeom prst="rect">
            <a:avLst/>
          </a:prstGeom>
          <a:noFill/>
          <a:ln/>
        </p:spPr>
        <p:txBody>
          <a:bodyPr wrap="square" lIns="0" tIns="0" rIns="0" bIns="0" rtlCol="0" anchor="ctr"/>
          <a:lstStyle/>
          <a:p>
            <a:pPr indent="0" marL="0">
              <a:buNone/>
            </a:pPr>
            <a:r>
              <a:rPr lang="en-US" sz="2800" b="1" dirty="0">
                <a:solidFill>
                  <a:srgbClr val="3F6B52"/>
                </a:solidFill>
                <a:latin typeface="Cambria" pitchFamily="34" charset="0"/>
                <a:ea typeface="Cambria" pitchFamily="34" charset="-122"/>
                <a:cs typeface="Cambria" pitchFamily="34" charset="-120"/>
              </a:rPr>
              <a:t>7,65 s</a:t>
            </a:r>
            <a:endParaRPr lang="en-US" sz="2800" dirty="0"/>
          </a:p>
        </p:txBody>
      </p:sp>
      <p:sp>
        <p:nvSpPr>
          <p:cNvPr id="11" name="Text 8"/>
          <p:cNvSpPr txBox="1"/>
          <p:nvPr/>
        </p:nvSpPr>
        <p:spPr>
          <a:xfrm>
            <a:off x="5852160" y="3694176"/>
            <a:ext cx="2834640" cy="45720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bước phân bổ lâu nhất (5 000 học sinh, 10 CLB, 10 nguyện vọng)</a:t>
            </a:r>
            <a:endParaRPr lang="en-US" sz="1100" dirty="0"/>
          </a:p>
        </p:txBody>
      </p:sp>
      <p:sp>
        <p:nvSpPr>
          <p:cNvPr id="12" name="Text 9"/>
          <p:cNvSpPr txBox="1"/>
          <p:nvPr/>
        </p:nvSpPr>
        <p:spPr>
          <a:xfrm>
            <a:off x="457200" y="4434840"/>
            <a:ext cx="777240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Mỗi học sinh 5 nguyện vọng, chỉ tiêu chia đều. Dữ liệu mô phỏng do máy tạo ra.</a:t>
            </a:r>
            <a:endParaRPr lang="en-US" sz="1000" dirty="0"/>
          </a:p>
        </p:txBody>
      </p:sp>
      <p:sp>
        <p:nvSpPr>
          <p:cNvPr id="13" name="Text 10"/>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4.3.1 Thời gian chạy phân bổ, 4.3.2 Tính ổn định</a:t>
            </a:r>
            <a:endParaRPr lang="en-US" sz="900" dirty="0"/>
          </a:p>
        </p:txBody>
      </p:sp>
      <p:sp>
        <p:nvSpPr>
          <p:cNvPr id="14" name="Text 1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ĐỘ TIN CẬY</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Công bằng có số đo cụ thể</a:t>
            </a:r>
            <a:endParaRPr lang="en-US" sz="3000" dirty="0"/>
          </a:p>
        </p:txBody>
      </p:sp>
      <p:sp>
        <p:nvSpPr>
          <p:cNvPr id="4" name="Shape 2"/>
          <p:cNvSpPr/>
          <p:nvPr/>
        </p:nvSpPr>
        <p:spPr>
          <a:xfrm>
            <a:off x="457200" y="1188720"/>
            <a:ext cx="2606040" cy="1783080"/>
          </a:xfrm>
          <a:prstGeom prst="roundRect">
            <a:avLst>
              <a:gd name="adj" fmla="val 4103"/>
            </a:avLst>
          </a:prstGeom>
          <a:solidFill>
            <a:srgbClr val="FFFFFF"/>
          </a:solidFill>
          <a:ln w="9525">
            <a:solidFill>
              <a:srgbClr val="DBDCD5"/>
            </a:solidFill>
            <a:prstDash val="solid"/>
          </a:ln>
        </p:spPr>
      </p:sp>
      <p:sp>
        <p:nvSpPr>
          <p:cNvPr id="5" name="Text 3"/>
          <p:cNvSpPr txBox="1"/>
          <p:nvPr/>
        </p:nvSpPr>
        <p:spPr>
          <a:xfrm>
            <a:off x="68580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0</a:t>
            </a:r>
            <a:endParaRPr lang="en-US" sz="3600" dirty="0"/>
          </a:p>
        </p:txBody>
      </p:sp>
      <p:sp>
        <p:nvSpPr>
          <p:cNvPr id="6" name="Text 4"/>
          <p:cNvSpPr txBox="1"/>
          <p:nvPr/>
        </p:nvSpPr>
        <p:spPr>
          <a:xfrm>
            <a:off x="68580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cặp học sinh và CLB cùng muốn đổi kết quả</a:t>
            </a:r>
            <a:endParaRPr lang="en-US" sz="1200" dirty="0"/>
          </a:p>
        </p:txBody>
      </p:sp>
      <p:sp>
        <p:nvSpPr>
          <p:cNvPr id="7" name="Text 5"/>
          <p:cNvSpPr txBox="1"/>
          <p:nvPr/>
        </p:nvSpPr>
        <p:spPr>
          <a:xfrm>
            <a:off x="68580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kiểm tra qua 200 lần bốc thăm khác nhau</a:t>
            </a:r>
            <a:endParaRPr lang="en-US" sz="1050" dirty="0"/>
          </a:p>
        </p:txBody>
      </p:sp>
      <p:sp>
        <p:nvSpPr>
          <p:cNvPr id="8" name="Shape 6"/>
          <p:cNvSpPr/>
          <p:nvPr/>
        </p:nvSpPr>
        <p:spPr>
          <a:xfrm>
            <a:off x="3246120" y="1188720"/>
            <a:ext cx="2606040" cy="1783080"/>
          </a:xfrm>
          <a:prstGeom prst="roundRect">
            <a:avLst>
              <a:gd name="adj" fmla="val 4103"/>
            </a:avLst>
          </a:prstGeom>
          <a:solidFill>
            <a:srgbClr val="FFFFFF"/>
          </a:solidFill>
          <a:ln w="9525">
            <a:solidFill>
              <a:srgbClr val="DBDCD5"/>
            </a:solidFill>
            <a:prstDash val="solid"/>
          </a:ln>
        </p:spPr>
      </p:sp>
      <p:sp>
        <p:nvSpPr>
          <p:cNvPr id="9" name="Text 7"/>
          <p:cNvSpPr txBox="1"/>
          <p:nvPr/>
        </p:nvSpPr>
        <p:spPr>
          <a:xfrm>
            <a:off x="347472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1,1%</a:t>
            </a:r>
            <a:endParaRPr lang="en-US" sz="3600" dirty="0"/>
          </a:p>
        </p:txBody>
      </p:sp>
      <p:sp>
        <p:nvSpPr>
          <p:cNvPr id="10" name="Text 8"/>
          <p:cNvSpPr txBox="1"/>
          <p:nvPr/>
        </p:nvSpPr>
        <p:spPr>
          <a:xfrm>
            <a:off x="347472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học sinh có kết quả phụ thuộc bốc thăm</a:t>
            </a:r>
            <a:endParaRPr lang="en-US" sz="1200" dirty="0"/>
          </a:p>
        </p:txBody>
      </p:sp>
      <p:sp>
        <p:nvSpPr>
          <p:cNvPr id="11" name="Text 9"/>
          <p:cNvSpPr txBox="1"/>
          <p:nvPr/>
        </p:nvSpPr>
        <p:spPr>
          <a:xfrm>
            <a:off x="347472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chỉ những học sinh ngang hàng nhau, đứng đúng ở ranh giới chỉ tiêu</a:t>
            </a:r>
            <a:endParaRPr lang="en-US" sz="1050" dirty="0"/>
          </a:p>
        </p:txBody>
      </p:sp>
      <p:sp>
        <p:nvSpPr>
          <p:cNvPr id="12" name="Shape 10"/>
          <p:cNvSpPr/>
          <p:nvPr/>
        </p:nvSpPr>
        <p:spPr>
          <a:xfrm>
            <a:off x="6035040" y="1188720"/>
            <a:ext cx="2606040" cy="1783080"/>
          </a:xfrm>
          <a:prstGeom prst="roundRect">
            <a:avLst>
              <a:gd name="adj" fmla="val 4103"/>
            </a:avLst>
          </a:prstGeom>
          <a:solidFill>
            <a:srgbClr val="FFFFFF"/>
          </a:solidFill>
          <a:ln w="9525">
            <a:solidFill>
              <a:srgbClr val="DBDCD5"/>
            </a:solidFill>
            <a:prstDash val="solid"/>
          </a:ln>
        </p:spPr>
      </p:sp>
      <p:sp>
        <p:nvSpPr>
          <p:cNvPr id="13" name="Text 11"/>
          <p:cNvSpPr txBox="1"/>
          <p:nvPr/>
        </p:nvSpPr>
        <p:spPr>
          <a:xfrm>
            <a:off x="6263640" y="1280160"/>
            <a:ext cx="2194560" cy="685800"/>
          </a:xfrm>
          <a:prstGeom prst="rect">
            <a:avLst/>
          </a:prstGeom>
          <a:noFill/>
          <a:ln/>
        </p:spPr>
        <p:txBody>
          <a:bodyPr wrap="square" lIns="0" tIns="0" rIns="0" bIns="0" rtlCol="0" anchor="ctr"/>
          <a:lstStyle/>
          <a:p>
            <a:pPr indent="0" marL="0">
              <a:buNone/>
            </a:pPr>
            <a:r>
              <a:rPr lang="en-US" sz="3600" b="1" dirty="0">
                <a:solidFill>
                  <a:srgbClr val="3F6B52"/>
                </a:solidFill>
                <a:latin typeface="Cambria" pitchFamily="34" charset="0"/>
                <a:ea typeface="Cambria" pitchFamily="34" charset="-122"/>
                <a:cs typeface="Cambria" pitchFamily="34" charset="-120"/>
              </a:rPr>
              <a:t>750+</a:t>
            </a:r>
            <a:endParaRPr lang="en-US" sz="3600" dirty="0"/>
          </a:p>
        </p:txBody>
      </p:sp>
      <p:sp>
        <p:nvSpPr>
          <p:cNvPr id="14" name="Text 12"/>
          <p:cNvSpPr txBox="1"/>
          <p:nvPr/>
        </p:nvSpPr>
        <p:spPr>
          <a:xfrm>
            <a:off x="6263640" y="1965960"/>
            <a:ext cx="2194560" cy="45720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bài kiểm thử tự động</a:t>
            </a:r>
            <a:endParaRPr lang="en-US" sz="1200" dirty="0"/>
          </a:p>
        </p:txBody>
      </p:sp>
      <p:sp>
        <p:nvSpPr>
          <p:cNvPr id="15" name="Text 13"/>
          <p:cNvSpPr txBox="1"/>
          <p:nvPr/>
        </p:nvSpPr>
        <p:spPr>
          <a:xfrm>
            <a:off x="6263640" y="2423160"/>
            <a:ext cx="219456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chạy lại mỗi khi sửa mã nguồn</a:t>
            </a:r>
            <a:endParaRPr lang="en-US" sz="1050" dirty="0"/>
          </a:p>
        </p:txBody>
      </p:sp>
      <p:sp>
        <p:nvSpPr>
          <p:cNvPr id="16" name="Shape 14"/>
          <p:cNvSpPr/>
          <p:nvPr/>
        </p:nvSpPr>
        <p:spPr>
          <a:xfrm>
            <a:off x="457200" y="3291840"/>
            <a:ext cx="502920" cy="502920"/>
          </a:xfrm>
          <a:prstGeom prst="ellipse">
            <a:avLst/>
          </a:prstGeom>
          <a:solidFill>
            <a:srgbClr val="1C2321"/>
          </a:solidFill>
          <a:ln w="12700">
            <a:solidFill>
              <a:srgbClr val="1C2321"/>
            </a:solidFill>
            <a:prstDash val="solid"/>
          </a:ln>
        </p:spPr>
      </p:sp>
      <p:pic>
        <p:nvPicPr>
          <p:cNvPr id="17" name="Image 0" descr="preencoded.png">    </p:cNvPr>
          <p:cNvPicPr>
            <a:picLocks noChangeAspect="1"/>
          </p:cNvPicPr>
          <p:nvPr/>
        </p:nvPicPr>
        <p:blipFill>
          <a:blip r:embed="rId1"/>
          <a:stretch>
            <a:fillRect/>
          </a:stretch>
        </p:blipFill>
        <p:spPr>
          <a:xfrm>
            <a:off x="587959" y="3422599"/>
            <a:ext cx="241402" cy="241402"/>
          </a:xfrm>
          <a:prstGeom prst="rect">
            <a:avLst/>
          </a:prstGeom>
        </p:spPr>
      </p:pic>
      <p:sp>
        <p:nvSpPr>
          <p:cNvPr id="18" name="Text 15"/>
          <p:cNvSpPr txBox="1"/>
          <p:nvPr/>
        </p:nvSpPr>
        <p:spPr>
          <a:xfrm>
            <a:off x="109728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Tự sao lưu trước mỗi lần chạy</a:t>
            </a:r>
            <a:endParaRPr lang="en-US" sz="1200" dirty="0"/>
          </a:p>
        </p:txBody>
      </p:sp>
      <p:sp>
        <p:nvSpPr>
          <p:cNvPr id="19" name="Text 16"/>
          <p:cNvSpPr txBox="1"/>
          <p:nvPr/>
        </p:nvSpPr>
        <p:spPr>
          <a:xfrm>
            <a:off x="109728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luôn giữ 10 bản gần nhất</a:t>
            </a:r>
            <a:endParaRPr lang="en-US" sz="1050" dirty="0"/>
          </a:p>
        </p:txBody>
      </p:sp>
      <p:sp>
        <p:nvSpPr>
          <p:cNvPr id="20" name="Shape 17"/>
          <p:cNvSpPr/>
          <p:nvPr/>
        </p:nvSpPr>
        <p:spPr>
          <a:xfrm>
            <a:off x="3246120" y="3291840"/>
            <a:ext cx="502920" cy="502920"/>
          </a:xfrm>
          <a:prstGeom prst="ellipse">
            <a:avLst/>
          </a:prstGeom>
          <a:solidFill>
            <a:srgbClr val="1C2321"/>
          </a:solidFill>
          <a:ln w="12700">
            <a:solidFill>
              <a:srgbClr val="1C2321"/>
            </a:solidFill>
            <a:prstDash val="solid"/>
          </a:ln>
        </p:spPr>
      </p:sp>
      <p:pic>
        <p:nvPicPr>
          <p:cNvPr id="21" name="Image 1" descr="preencoded.png">    </p:cNvPr>
          <p:cNvPicPr>
            <a:picLocks noChangeAspect="1"/>
          </p:cNvPicPr>
          <p:nvPr/>
        </p:nvPicPr>
        <p:blipFill>
          <a:blip r:embed="rId2"/>
          <a:stretch>
            <a:fillRect/>
          </a:stretch>
        </p:blipFill>
        <p:spPr>
          <a:xfrm>
            <a:off x="3376879" y="3422599"/>
            <a:ext cx="241402" cy="241402"/>
          </a:xfrm>
          <a:prstGeom prst="rect">
            <a:avLst/>
          </a:prstGeom>
        </p:spPr>
      </p:pic>
      <p:sp>
        <p:nvSpPr>
          <p:cNvPr id="22" name="Text 18"/>
          <p:cNvSpPr txBox="1"/>
          <p:nvPr/>
        </p:nvSpPr>
        <p:spPr>
          <a:xfrm>
            <a:off x="388620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Khôi phục được khi dữ liệu hỏng</a:t>
            </a:r>
            <a:endParaRPr lang="en-US" sz="1200" dirty="0"/>
          </a:p>
        </p:txBody>
      </p:sp>
      <p:sp>
        <p:nvSpPr>
          <p:cNvPr id="23" name="Text 19"/>
          <p:cNvSpPr txBox="1"/>
          <p:nvPr/>
        </p:nvSpPr>
        <p:spPr>
          <a:xfrm>
            <a:off x="388620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lấy lại từ bản sao lưu còn dùng được</a:t>
            </a:r>
            <a:endParaRPr lang="en-US" sz="1050" dirty="0"/>
          </a:p>
        </p:txBody>
      </p:sp>
      <p:sp>
        <p:nvSpPr>
          <p:cNvPr id="24" name="Shape 20"/>
          <p:cNvSpPr/>
          <p:nvPr/>
        </p:nvSpPr>
        <p:spPr>
          <a:xfrm>
            <a:off x="6035040" y="3291840"/>
            <a:ext cx="502920" cy="502920"/>
          </a:xfrm>
          <a:prstGeom prst="ellipse">
            <a:avLst/>
          </a:prstGeom>
          <a:solidFill>
            <a:srgbClr val="1C2321"/>
          </a:solidFill>
          <a:ln w="12700">
            <a:solidFill>
              <a:srgbClr val="1C2321"/>
            </a:solidFill>
            <a:prstDash val="solid"/>
          </a:ln>
        </p:spPr>
      </p:sp>
      <p:pic>
        <p:nvPicPr>
          <p:cNvPr id="25" name="Image 2" descr="preencoded.png">    </p:cNvPr>
          <p:cNvPicPr>
            <a:picLocks noChangeAspect="1"/>
          </p:cNvPicPr>
          <p:nvPr/>
        </p:nvPicPr>
        <p:blipFill>
          <a:blip r:embed="rId3"/>
          <a:stretch>
            <a:fillRect/>
          </a:stretch>
        </p:blipFill>
        <p:spPr>
          <a:xfrm>
            <a:off x="6165799" y="3422599"/>
            <a:ext cx="241402" cy="241402"/>
          </a:xfrm>
          <a:prstGeom prst="rect">
            <a:avLst/>
          </a:prstGeom>
        </p:spPr>
      </p:pic>
      <p:sp>
        <p:nvSpPr>
          <p:cNvPr id="26" name="Text 21"/>
          <p:cNvSpPr txBox="1"/>
          <p:nvPr/>
        </p:nvSpPr>
        <p:spPr>
          <a:xfrm>
            <a:off x="6675120" y="3246120"/>
            <a:ext cx="2011680" cy="502920"/>
          </a:xfrm>
          <a:prstGeom prst="rect">
            <a:avLst/>
          </a:prstGeom>
          <a:noFill/>
          <a:ln/>
        </p:spPr>
        <p:txBody>
          <a:bodyPr wrap="square" lIns="0" tIns="0" rIns="0" bIns="0" rtlCol="0" anchor="t"/>
          <a:lstStyle/>
          <a:p>
            <a:pPr indent="0" marL="0">
              <a:buNone/>
            </a:pPr>
            <a:r>
              <a:rPr lang="en-US" sz="1200" b="1" dirty="0">
                <a:solidFill>
                  <a:srgbClr val="1C2321"/>
                </a:solidFill>
                <a:latin typeface="Calibri" pitchFamily="34" charset="0"/>
                <a:ea typeface="Calibri" pitchFamily="34" charset="-122"/>
                <a:cs typeface="Calibri" pitchFamily="34" charset="-120"/>
              </a:rPr>
              <a:t>8 cảnh báo trước khi chạy</a:t>
            </a:r>
            <a:endParaRPr lang="en-US" sz="1200" dirty="0"/>
          </a:p>
        </p:txBody>
      </p:sp>
      <p:sp>
        <p:nvSpPr>
          <p:cNvPr id="27" name="Text 22"/>
          <p:cNvSpPr txBox="1"/>
          <p:nvPr/>
        </p:nvSpPr>
        <p:spPr>
          <a:xfrm>
            <a:off x="6675120" y="3767328"/>
            <a:ext cx="2011680" cy="457200"/>
          </a:xfrm>
          <a:prstGeom prst="rect">
            <a:avLst/>
          </a:prstGeom>
          <a:noFill/>
          <a:ln/>
        </p:spPr>
        <p:txBody>
          <a:bodyPr wrap="square" lIns="0" tIns="0" rIns="0" bIns="0" rtlCol="0" anchor="t"/>
          <a:lstStyle/>
          <a:p>
            <a:pPr indent="0" marL="0">
              <a:buNone/>
            </a:pPr>
            <a:r>
              <a:rPr lang="en-US" sz="1050" dirty="0">
                <a:solidFill>
                  <a:srgbClr val="5B6570"/>
                </a:solidFill>
                <a:latin typeface="Calibri" pitchFamily="34" charset="0"/>
                <a:ea typeface="Calibri" pitchFamily="34" charset="-122"/>
                <a:cs typeface="Calibri" pitchFamily="34" charset="-120"/>
              </a:rPr>
              <a:t>phát hiện lỗi nhập liệu dễ bị bỏ sót</a:t>
            </a:r>
            <a:endParaRPr lang="en-US" sz="1050" dirty="0"/>
          </a:p>
        </p:txBody>
      </p:sp>
      <p:sp>
        <p:nvSpPr>
          <p:cNvPr id="28" name="Text 23"/>
          <p:cNvSpPr txBox="1"/>
          <p:nvPr/>
        </p:nvSpPr>
        <p:spPr>
          <a:xfrm>
            <a:off x="457200" y="4526280"/>
            <a:ext cx="7772400" cy="274320"/>
          </a:xfrm>
          <a:prstGeom prst="rect">
            <a:avLst/>
          </a:prstGeom>
          <a:noFill/>
          <a:ln/>
        </p:spPr>
        <p:txBody>
          <a:bodyPr wrap="square" lIns="0" tIns="0" rIns="0" bIns="0" rtlCol="0" anchor="ctr"/>
          <a:lstStyle/>
          <a:p>
            <a:pPr indent="0" marL="0">
              <a:buNone/>
            </a:pPr>
            <a:r>
              <a:rPr lang="en-US" sz="1000" i="1" dirty="0">
                <a:solidFill>
                  <a:srgbClr val="5B6570"/>
                </a:solidFill>
                <a:latin typeface="Calibri" pitchFamily="34" charset="0"/>
                <a:ea typeface="Calibri" pitchFamily="34" charset="-122"/>
                <a:cs typeface="Calibri" pitchFamily="34" charset="-120"/>
              </a:rPr>
              <a:t>Các số đo dựa trên dữ liệu mô phỏng. Cách đo lại có ghi trong hồ sơ dự án.</a:t>
            </a:r>
            <a:endParaRPr lang="en-US" sz="1000" dirty="0"/>
          </a:p>
        </p:txBody>
      </p:sp>
      <p:sp>
        <p:nvSpPr>
          <p:cNvPr id="29" name="Text 2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12</a:t>
            </a:r>
            <a:endParaRPr lang="en-US" sz="1000" dirty="0"/>
          </a:p>
        </p:txBody>
      </p:sp>
      <p:sp>
        <p:nvSpPr>
          <p:cNvPr id="30" name="Text 25"/>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mục 4.2.2.3 Bốc thăm, 4.2.2.5 Kiểm chứng ổn định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1"/>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200" kern="0" dirty="0">
                <a:solidFill>
                  <a:srgbClr val="C98A1F"/>
                </a:solidFill>
                <a:latin typeface="Calibri" pitchFamily="34" charset="0"/>
                <a:ea typeface="Calibri" pitchFamily="34" charset="-122"/>
                <a:cs typeface="Calibri" pitchFamily="34" charset="-120"/>
              </a:rPr>
              <a:t>TÍNH NĂNG KHÁC</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000" b="1" dirty="0">
                <a:solidFill>
                  <a:srgbClr val="1C2321"/>
                </a:solidFill>
                <a:latin typeface="Cambria" pitchFamily="34" charset="0"/>
                <a:ea typeface="Cambria" pitchFamily="34" charset="-122"/>
                <a:cs typeface="Cambria" pitchFamily="34" charset="-120"/>
              </a:rPr>
              <a:t>Phù hợp với nhiều cách tổ chức</a:t>
            </a:r>
            <a:endParaRPr lang="en-US" sz="3000" dirty="0"/>
          </a:p>
        </p:txBody>
      </p:sp>
      <p:sp>
        <p:nvSpPr>
          <p:cNvPr id="4" name="Shape 2"/>
          <p:cNvSpPr/>
          <p:nvPr/>
        </p:nvSpPr>
        <p:spPr>
          <a:xfrm>
            <a:off x="457200" y="1280160"/>
            <a:ext cx="4023360" cy="1371600"/>
          </a:xfrm>
          <a:prstGeom prst="roundRect">
            <a:avLst>
              <a:gd name="adj" fmla="val 5333"/>
            </a:avLst>
          </a:prstGeom>
          <a:solidFill>
            <a:srgbClr val="FFFFFF"/>
          </a:solidFill>
          <a:ln w="9525">
            <a:solidFill>
              <a:srgbClr val="DBDCD5"/>
            </a:solidFill>
            <a:prstDash val="solid"/>
          </a:ln>
        </p:spPr>
      </p:sp>
      <p:sp>
        <p:nvSpPr>
          <p:cNvPr id="5" name="Shape 3"/>
          <p:cNvSpPr/>
          <p:nvPr/>
        </p:nvSpPr>
        <p:spPr>
          <a:xfrm>
            <a:off x="685800" y="1536192"/>
            <a:ext cx="548640" cy="548640"/>
          </a:xfrm>
          <a:prstGeom prst="ellipse">
            <a:avLst/>
          </a:prstGeom>
          <a:solidFill>
            <a:srgbClr val="DCE9E0"/>
          </a:solidFill>
          <a:ln w="12700">
            <a:solidFill>
              <a:srgbClr val="DCE9E0"/>
            </a:solidFill>
            <a:prstDash val="solid"/>
          </a:ln>
        </p:spPr>
      </p:sp>
      <p:pic>
        <p:nvPicPr>
          <p:cNvPr id="6" name="Image 0" descr="preencoded.png">    </p:cNvPr>
          <p:cNvPicPr>
            <a:picLocks noChangeAspect="1"/>
          </p:cNvPicPr>
          <p:nvPr/>
        </p:nvPicPr>
        <p:blipFill>
          <a:blip r:embed="rId1"/>
          <a:stretch>
            <a:fillRect/>
          </a:stretch>
        </p:blipFill>
        <p:spPr>
          <a:xfrm>
            <a:off x="828446" y="1678838"/>
            <a:ext cx="263347" cy="263347"/>
          </a:xfrm>
          <a:prstGeom prst="rect">
            <a:avLst/>
          </a:prstGeom>
        </p:spPr>
      </p:pic>
      <p:sp>
        <p:nvSpPr>
          <p:cNvPr id="7" name="Text 4"/>
          <p:cNvSpPr txBox="1"/>
          <p:nvPr/>
        </p:nvSpPr>
        <p:spPr>
          <a:xfrm>
            <a:off x="1417320" y="15087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Nhiều buổi trong tuần</a:t>
            </a:r>
            <a:endParaRPr lang="en-US" sz="1400" dirty="0"/>
          </a:p>
        </p:txBody>
      </p:sp>
      <p:sp>
        <p:nvSpPr>
          <p:cNvPr id="8" name="Text 5"/>
          <p:cNvSpPr txBox="1"/>
          <p:nvPr/>
        </p:nvSpPr>
        <p:spPr>
          <a:xfrm>
            <a:off x="1417320" y="18745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Mỗi CLB sinh hoạt một buổi. Học sinh có thể tham gia nhiều CLB nếu không trùng buổi, và phần mềm xếp thời khóa biểu CLB cho từng học sinh.</a:t>
            </a:r>
            <a:endParaRPr lang="en-US" sz="1100" dirty="0"/>
          </a:p>
        </p:txBody>
      </p:sp>
      <p:sp>
        <p:nvSpPr>
          <p:cNvPr id="9" name="Shape 6"/>
          <p:cNvSpPr/>
          <p:nvPr/>
        </p:nvSpPr>
        <p:spPr>
          <a:xfrm>
            <a:off x="4663440" y="1280160"/>
            <a:ext cx="4023360" cy="1371600"/>
          </a:xfrm>
          <a:prstGeom prst="roundRect">
            <a:avLst>
              <a:gd name="adj" fmla="val 5333"/>
            </a:avLst>
          </a:prstGeom>
          <a:solidFill>
            <a:srgbClr val="FFFFFF"/>
          </a:solidFill>
          <a:ln w="9525">
            <a:solidFill>
              <a:srgbClr val="DBDCD5"/>
            </a:solidFill>
            <a:prstDash val="solid"/>
          </a:ln>
        </p:spPr>
      </p:sp>
      <p:sp>
        <p:nvSpPr>
          <p:cNvPr id="10" name="Shape 7"/>
          <p:cNvSpPr/>
          <p:nvPr/>
        </p:nvSpPr>
        <p:spPr>
          <a:xfrm>
            <a:off x="4892040" y="1536192"/>
            <a:ext cx="548640" cy="548640"/>
          </a:xfrm>
          <a:prstGeom prst="ellipse">
            <a:avLst/>
          </a:prstGeom>
          <a:solidFill>
            <a:srgbClr val="DCE9E0"/>
          </a:solidFill>
          <a:ln w="12700">
            <a:solidFill>
              <a:srgbClr val="DCE9E0"/>
            </a:solidFill>
            <a:prstDash val="solid"/>
          </a:ln>
        </p:spPr>
      </p:sp>
      <p:pic>
        <p:nvPicPr>
          <p:cNvPr id="11" name="Image 1" descr="preencoded.png">    </p:cNvPr>
          <p:cNvPicPr>
            <a:picLocks noChangeAspect="1"/>
          </p:cNvPicPr>
          <p:nvPr/>
        </p:nvPicPr>
        <p:blipFill>
          <a:blip r:embed="rId2"/>
          <a:stretch>
            <a:fillRect/>
          </a:stretch>
        </p:blipFill>
        <p:spPr>
          <a:xfrm>
            <a:off x="5034686" y="1678838"/>
            <a:ext cx="263347" cy="263347"/>
          </a:xfrm>
          <a:prstGeom prst="rect">
            <a:avLst/>
          </a:prstGeom>
        </p:spPr>
      </p:pic>
      <p:sp>
        <p:nvSpPr>
          <p:cNvPr id="12" name="Text 8"/>
          <p:cNvSpPr txBox="1"/>
          <p:nvPr/>
        </p:nvSpPr>
        <p:spPr>
          <a:xfrm>
            <a:off x="5623560" y="15087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Thêm học sinh tại chỗ</a:t>
            </a:r>
            <a:endParaRPr lang="en-US" sz="1400" dirty="0"/>
          </a:p>
        </p:txBody>
      </p:sp>
      <p:sp>
        <p:nvSpPr>
          <p:cNvPr id="13" name="Text 9"/>
          <p:cNvSpPr txBox="1"/>
          <p:nvPr/>
        </p:nvSpPr>
        <p:spPr>
          <a:xfrm>
            <a:off x="5623560" y="18745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Học sinh chưa nộp được qua biểu mẫu vẫn có thể nhập tay. Học sinh thêm vào sau khi đã bốc thăm được xếp một vị trí ngẫu nhiên, không bị đẩy xuống cuối.</a:t>
            </a:r>
            <a:endParaRPr lang="en-US" sz="1100" dirty="0"/>
          </a:p>
        </p:txBody>
      </p:sp>
      <p:sp>
        <p:nvSpPr>
          <p:cNvPr id="14" name="Shape 10"/>
          <p:cNvSpPr/>
          <p:nvPr/>
        </p:nvSpPr>
        <p:spPr>
          <a:xfrm>
            <a:off x="457200" y="2880360"/>
            <a:ext cx="4023360" cy="1371600"/>
          </a:xfrm>
          <a:prstGeom prst="roundRect">
            <a:avLst>
              <a:gd name="adj" fmla="val 5333"/>
            </a:avLst>
          </a:prstGeom>
          <a:solidFill>
            <a:srgbClr val="FFFFFF"/>
          </a:solidFill>
          <a:ln w="9525">
            <a:solidFill>
              <a:srgbClr val="DBDCD5"/>
            </a:solidFill>
            <a:prstDash val="solid"/>
          </a:ln>
        </p:spPr>
      </p:sp>
      <p:sp>
        <p:nvSpPr>
          <p:cNvPr id="15" name="Shape 11"/>
          <p:cNvSpPr/>
          <p:nvPr/>
        </p:nvSpPr>
        <p:spPr>
          <a:xfrm>
            <a:off x="685800" y="3136392"/>
            <a:ext cx="548640" cy="548640"/>
          </a:xfrm>
          <a:prstGeom prst="ellipse">
            <a:avLst/>
          </a:prstGeom>
          <a:solidFill>
            <a:srgbClr val="DCE9E0"/>
          </a:solidFill>
          <a:ln w="12700">
            <a:solidFill>
              <a:srgbClr val="DCE9E0"/>
            </a:solidFill>
            <a:prstDash val="solid"/>
          </a:ln>
        </p:spPr>
      </p:sp>
      <p:pic>
        <p:nvPicPr>
          <p:cNvPr id="16" name="Image 2" descr="preencoded.png">    </p:cNvPr>
          <p:cNvPicPr>
            <a:picLocks noChangeAspect="1"/>
          </p:cNvPicPr>
          <p:nvPr/>
        </p:nvPicPr>
        <p:blipFill>
          <a:blip r:embed="rId3"/>
          <a:stretch>
            <a:fillRect/>
          </a:stretch>
        </p:blipFill>
        <p:spPr>
          <a:xfrm>
            <a:off x="828446" y="3279038"/>
            <a:ext cx="263347" cy="263347"/>
          </a:xfrm>
          <a:prstGeom prst="rect">
            <a:avLst/>
          </a:prstGeom>
        </p:spPr>
      </p:pic>
      <p:sp>
        <p:nvSpPr>
          <p:cNvPr id="17" name="Text 12"/>
          <p:cNvSpPr txBox="1"/>
          <p:nvPr/>
        </p:nvSpPr>
        <p:spPr>
          <a:xfrm>
            <a:off x="1417320" y="31089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Hai ngôn ngữ Việt và Anh</a:t>
            </a:r>
            <a:endParaRPr lang="en-US" sz="1400" dirty="0"/>
          </a:p>
        </p:txBody>
      </p:sp>
      <p:sp>
        <p:nvSpPr>
          <p:cNvPr id="18" name="Text 13"/>
          <p:cNvSpPr txBox="1"/>
          <p:nvPr/>
        </p:nvSpPr>
        <p:spPr>
          <a:xfrm>
            <a:off x="1417320" y="34747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Đổi ngôn ngữ giao diện chỉ bằng một nút, tiện khi có giáo viên nước ngoài phụ trách CLB.</a:t>
            </a:r>
            <a:endParaRPr lang="en-US" sz="1100" dirty="0"/>
          </a:p>
        </p:txBody>
      </p:sp>
      <p:sp>
        <p:nvSpPr>
          <p:cNvPr id="19" name="Shape 14"/>
          <p:cNvSpPr/>
          <p:nvPr/>
        </p:nvSpPr>
        <p:spPr>
          <a:xfrm>
            <a:off x="4663440" y="2880360"/>
            <a:ext cx="4023360" cy="1371600"/>
          </a:xfrm>
          <a:prstGeom prst="roundRect">
            <a:avLst>
              <a:gd name="adj" fmla="val 5333"/>
            </a:avLst>
          </a:prstGeom>
          <a:solidFill>
            <a:srgbClr val="FFFFFF"/>
          </a:solidFill>
          <a:ln w="9525">
            <a:solidFill>
              <a:srgbClr val="DBDCD5"/>
            </a:solidFill>
            <a:prstDash val="solid"/>
          </a:ln>
        </p:spPr>
      </p:sp>
      <p:sp>
        <p:nvSpPr>
          <p:cNvPr id="20" name="Shape 15"/>
          <p:cNvSpPr/>
          <p:nvPr/>
        </p:nvSpPr>
        <p:spPr>
          <a:xfrm>
            <a:off x="4892040" y="3136392"/>
            <a:ext cx="548640" cy="548640"/>
          </a:xfrm>
          <a:prstGeom prst="ellipse">
            <a:avLst/>
          </a:prstGeom>
          <a:solidFill>
            <a:srgbClr val="DCE9E0"/>
          </a:solidFill>
          <a:ln w="12700">
            <a:solidFill>
              <a:srgbClr val="DCE9E0"/>
            </a:solidFill>
            <a:prstDash val="solid"/>
          </a:ln>
        </p:spPr>
      </p:sp>
      <p:pic>
        <p:nvPicPr>
          <p:cNvPr id="21" name="Image 3" descr="preencoded.png">    </p:cNvPr>
          <p:cNvPicPr>
            <a:picLocks noChangeAspect="1"/>
          </p:cNvPicPr>
          <p:nvPr/>
        </p:nvPicPr>
        <p:blipFill>
          <a:blip r:embed="rId4"/>
          <a:stretch>
            <a:fillRect/>
          </a:stretch>
        </p:blipFill>
        <p:spPr>
          <a:xfrm>
            <a:off x="5034686" y="3279038"/>
            <a:ext cx="263347" cy="263347"/>
          </a:xfrm>
          <a:prstGeom prst="rect">
            <a:avLst/>
          </a:prstGeom>
        </p:spPr>
      </p:pic>
      <p:sp>
        <p:nvSpPr>
          <p:cNvPr id="22" name="Text 16"/>
          <p:cNvSpPr txBox="1"/>
          <p:nvPr/>
        </p:nvSpPr>
        <p:spPr>
          <a:xfrm>
            <a:off x="5623560" y="3108960"/>
            <a:ext cx="2880360" cy="365760"/>
          </a:xfrm>
          <a:prstGeom prst="rect">
            <a:avLst/>
          </a:prstGeom>
          <a:noFill/>
          <a:ln/>
        </p:spPr>
        <p:txBody>
          <a:bodyPr wrap="square" lIns="0" tIns="0" rIns="0" bIns="0" rtlCol="0" anchor="ctr"/>
          <a:lstStyle/>
          <a:p>
            <a:pPr indent="0" marL="0">
              <a:buNone/>
            </a:pPr>
            <a:r>
              <a:rPr lang="en-US" sz="1400" b="1" dirty="0">
                <a:solidFill>
                  <a:srgbClr val="1C2321"/>
                </a:solidFill>
                <a:latin typeface="Calibri" pitchFamily="34" charset="0"/>
                <a:ea typeface="Calibri" pitchFamily="34" charset="-122"/>
                <a:cs typeface="Calibri" pitchFamily="34" charset="-120"/>
              </a:rPr>
              <a:t>Dùng hoặc không dùng suất dự trữ</a:t>
            </a:r>
            <a:endParaRPr lang="en-US" sz="1400" dirty="0"/>
          </a:p>
        </p:txBody>
      </p:sp>
      <p:sp>
        <p:nvSpPr>
          <p:cNvPr id="23" name="Text 17"/>
          <p:cNvSpPr txBox="1"/>
          <p:nvPr/>
        </p:nvSpPr>
        <p:spPr>
          <a:xfrm>
            <a:off x="5623560" y="3474720"/>
            <a:ext cx="2880360" cy="822960"/>
          </a:xfrm>
          <a:prstGeom prst="rect">
            <a:avLst/>
          </a:prstGeom>
          <a:noFill/>
          <a:ln/>
        </p:spPr>
        <p:txBody>
          <a:bodyPr wrap="square" lIns="0" tIns="0" rIns="0" bIns="0" rtlCol="0" anchor="t"/>
          <a:lstStyle/>
          <a:p>
            <a:pPr indent="0" marL="0">
              <a:buNone/>
            </a:pPr>
            <a:r>
              <a:rPr lang="en-US" sz="1100" dirty="0">
                <a:solidFill>
                  <a:srgbClr val="3A423F"/>
                </a:solidFill>
                <a:latin typeface="Calibri" pitchFamily="34" charset="0"/>
                <a:ea typeface="Calibri" pitchFamily="34" charset="-122"/>
                <a:cs typeface="Calibri" pitchFamily="34" charset="-120"/>
              </a:rPr>
              <a:t>Trường không cần diện ưu tiên thì đặt số suất dự trữ bằng 0, phần mềm vẫn chạy đúng.</a:t>
            </a:r>
            <a:endParaRPr lang="en-US" sz="11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5B6570"/>
                </a:solidFill>
                <a:latin typeface="Calibri" pitchFamily="34" charset="0"/>
                <a:ea typeface="Calibri" pitchFamily="34" charset="-122"/>
                <a:cs typeface="Calibri" pitchFamily="34" charset="-120"/>
              </a:rPr>
              <a:t>13</a:t>
            </a:r>
            <a:endParaRPr lang="en-US" sz="1000" dirty="0"/>
          </a:p>
        </p:txBody>
      </p:sp>
      <p:sp>
        <p:nvSpPr>
          <p:cNvPr id="25" name="Text 19"/>
          <p:cNvSpPr txBox="1"/>
          <p:nvPr/>
        </p:nvSpPr>
        <p:spPr>
          <a:xfrm>
            <a:off x="457200" y="4828032"/>
            <a:ext cx="6400800" cy="201168"/>
          </a:xfrm>
          <a:prstGeom prst="rect">
            <a:avLst/>
          </a:prstGeom>
          <a:noFill/>
          <a:ln/>
        </p:spPr>
        <p:txBody>
          <a:bodyPr wrap="square" lIns="0" tIns="0" rIns="0" bIns="0" rtlCol="0" anchor="ctr"/>
          <a:lstStyle/>
          <a:p>
            <a:pPr indent="0" marL="0">
              <a:buNone/>
            </a:pPr>
            <a:r>
              <a:rPr lang="en-US" sz="900" i="1" dirty="0">
                <a:solidFill>
                  <a:srgbClr val="5B6570"/>
                </a:solidFill>
                <a:latin typeface="Calibri" pitchFamily="34" charset="0"/>
                <a:ea typeface="Calibri" pitchFamily="34" charset="-122"/>
                <a:cs typeface="Calibri" pitchFamily="34" charset="-120"/>
              </a:rPr>
              <a:t>Đối chiếu báo cáo: Sơ đồ 3 (phân bổ cả tuần) trong mục 4.2.2.6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2321"/>
        </a:solidFill>
      </p:bgPr>
    </p:bg>
    <p:spTree>
      <p:nvGrpSpPr>
        <p:cNvPr id="1" name=""/>
        <p:cNvGrpSpPr/>
        <p:nvPr/>
      </p:nvGrpSpPr>
      <p:grpSpPr>
        <a:xfrm>
          <a:off x="0" y="0"/>
          <a:ext cx="0" cy="0"/>
          <a:chOff x="0" y="0"/>
          <a:chExt cx="0" cy="0"/>
        </a:xfrm>
      </p:grpSpPr>
      <p:sp>
        <p:nvSpPr>
          <p:cNvPr id="2" name="Text 0"/>
          <p:cNvSpPr txBox="1"/>
          <p:nvPr/>
        </p:nvSpPr>
        <p:spPr>
          <a:xfrm>
            <a:off x="457200" y="457200"/>
            <a:ext cx="8229600" cy="274320"/>
          </a:xfrm>
          <a:prstGeom prst="rect">
            <a:avLst/>
          </a:prstGeom>
          <a:noFill/>
          <a:ln/>
        </p:spPr>
        <p:txBody>
          <a:bodyPr wrap="square" lIns="0" tIns="0" rIns="0" bIns="0" rtlCol="0" anchor="ctr"/>
          <a:lstStyle/>
          <a:p>
            <a:pPr indent="0" marL="0">
              <a:buNone/>
            </a:pPr>
            <a:r>
              <a:rPr lang="en-US" sz="1200" b="1" spc="300" kern="0" dirty="0">
                <a:solidFill>
                  <a:srgbClr val="C98A1F"/>
                </a:solidFill>
                <a:latin typeface="Calibri" pitchFamily="34" charset="0"/>
                <a:ea typeface="Calibri" pitchFamily="34" charset="-122"/>
                <a:cs typeface="Calibri" pitchFamily="34" charset="-120"/>
              </a:rPr>
              <a:t>ĐỀ NGHỊ BAN GIÁM HIỆU</a:t>
            </a:r>
            <a:endParaRPr lang="en-US" sz="1200" dirty="0"/>
          </a:p>
        </p:txBody>
      </p:sp>
      <p:sp>
        <p:nvSpPr>
          <p:cNvPr id="3" name="Text 1"/>
          <p:cNvSpPr txBox="1"/>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 việc cần quyết định để chạy thử</a:t>
            </a:r>
            <a:endParaRPr lang="en-US" sz="3200" dirty="0"/>
          </a:p>
        </p:txBody>
      </p:sp>
      <p:sp>
        <p:nvSpPr>
          <p:cNvPr id="4" name="Shape 2"/>
          <p:cNvSpPr/>
          <p:nvPr/>
        </p:nvSpPr>
        <p:spPr>
          <a:xfrm>
            <a:off x="457200" y="1783080"/>
            <a:ext cx="2606040" cy="2286000"/>
          </a:xfrm>
          <a:prstGeom prst="roundRect">
            <a:avLst>
              <a:gd name="adj" fmla="val 3200"/>
            </a:avLst>
          </a:prstGeom>
          <a:solidFill>
            <a:srgbClr val="2A3330"/>
          </a:solidFill>
          <a:ln w="9525">
            <a:solidFill>
              <a:srgbClr val="3A4541"/>
            </a:solidFill>
            <a:prstDash val="solid"/>
          </a:ln>
        </p:spPr>
      </p:sp>
      <p:sp>
        <p:nvSpPr>
          <p:cNvPr id="5" name="Text 3"/>
          <p:cNvSpPr txBox="1"/>
          <p:nvPr/>
        </p:nvSpPr>
        <p:spPr>
          <a:xfrm>
            <a:off x="68580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68580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Cho phép chạy thử</a:t>
            </a:r>
            <a:endParaRPr lang="en-US" sz="1500" dirty="0"/>
          </a:p>
        </p:txBody>
      </p:sp>
      <p:sp>
        <p:nvSpPr>
          <p:cNvPr id="7" name="Text 5"/>
          <p:cNvSpPr txBox="1"/>
          <p:nvPr/>
        </p:nvSpPr>
        <p:spPr>
          <a:xfrm>
            <a:off x="68580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trong một đợt đăng ký CLB thật, song song với cách làm hiện nay để so sánh.</a:t>
            </a:r>
            <a:endParaRPr lang="en-US" sz="1200" dirty="0"/>
          </a:p>
        </p:txBody>
      </p:sp>
      <p:sp>
        <p:nvSpPr>
          <p:cNvPr id="8" name="Shape 6"/>
          <p:cNvSpPr/>
          <p:nvPr/>
        </p:nvSpPr>
        <p:spPr>
          <a:xfrm>
            <a:off x="3246120" y="1783080"/>
            <a:ext cx="2606040" cy="2286000"/>
          </a:xfrm>
          <a:prstGeom prst="roundRect">
            <a:avLst>
              <a:gd name="adj" fmla="val 3200"/>
            </a:avLst>
          </a:prstGeom>
          <a:solidFill>
            <a:srgbClr val="2A3330"/>
          </a:solidFill>
          <a:ln w="9525">
            <a:solidFill>
              <a:srgbClr val="3A4541"/>
            </a:solidFill>
            <a:prstDash val="solid"/>
          </a:ln>
        </p:spPr>
      </p:sp>
      <p:sp>
        <p:nvSpPr>
          <p:cNvPr id="9" name="Text 7"/>
          <p:cNvSpPr txBox="1"/>
          <p:nvPr/>
        </p:nvSpPr>
        <p:spPr>
          <a:xfrm>
            <a:off x="347472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347472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Thống nhất về suất dự trữ</a:t>
            </a:r>
            <a:endParaRPr lang="en-US" sz="1500" dirty="0"/>
          </a:p>
        </p:txBody>
      </p:sp>
      <p:sp>
        <p:nvSpPr>
          <p:cNvPr id="11" name="Text 9"/>
          <p:cNvSpPr txBox="1"/>
          <p:nvPr/>
        </p:nvSpPr>
        <p:spPr>
          <a:xfrm>
            <a:off x="347472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có dùng hay không, dành cho diện nào, và mỗi CLB bao nhiêu chỗ.</a:t>
            </a:r>
            <a:endParaRPr lang="en-US" sz="1200" dirty="0"/>
          </a:p>
        </p:txBody>
      </p:sp>
      <p:sp>
        <p:nvSpPr>
          <p:cNvPr id="12" name="Shape 10"/>
          <p:cNvSpPr/>
          <p:nvPr/>
        </p:nvSpPr>
        <p:spPr>
          <a:xfrm>
            <a:off x="6035040" y="1783080"/>
            <a:ext cx="2606040" cy="2286000"/>
          </a:xfrm>
          <a:prstGeom prst="roundRect">
            <a:avLst>
              <a:gd name="adj" fmla="val 3200"/>
            </a:avLst>
          </a:prstGeom>
          <a:solidFill>
            <a:srgbClr val="2A3330"/>
          </a:solidFill>
          <a:ln w="9525">
            <a:solidFill>
              <a:srgbClr val="3A4541"/>
            </a:solidFill>
            <a:prstDash val="solid"/>
          </a:ln>
        </p:spPr>
      </p:sp>
      <p:sp>
        <p:nvSpPr>
          <p:cNvPr id="13" name="Text 11"/>
          <p:cNvSpPr txBox="1"/>
          <p:nvPr/>
        </p:nvSpPr>
        <p:spPr>
          <a:xfrm>
            <a:off x="6263640" y="1920240"/>
            <a:ext cx="914400" cy="640080"/>
          </a:xfrm>
          <a:prstGeom prst="rect">
            <a:avLst/>
          </a:prstGeom>
          <a:noFill/>
          <a:ln/>
        </p:spPr>
        <p:txBody>
          <a:bodyPr wrap="square" lIns="0" tIns="0" rIns="0" bIns="0" rtlCol="0" anchor="ctr"/>
          <a:lstStyle/>
          <a:p>
            <a:pPr indent="0" marL="0">
              <a:buNone/>
            </a:pPr>
            <a:r>
              <a:rPr lang="en-US" sz="3600" b="1" dirty="0">
                <a:solidFill>
                  <a:srgbClr val="C98A1F"/>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6263640" y="2606040"/>
            <a:ext cx="2194560"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Phân công người phụ trách</a:t>
            </a:r>
            <a:endParaRPr lang="en-US" sz="1500" dirty="0"/>
          </a:p>
        </p:txBody>
      </p:sp>
      <p:sp>
        <p:nvSpPr>
          <p:cNvPr id="15" name="Text 13"/>
          <p:cNvSpPr txBox="1"/>
          <p:nvPr/>
        </p:nvSpPr>
        <p:spPr>
          <a:xfrm>
            <a:off x="6263640" y="3017520"/>
            <a:ext cx="2194560" cy="960120"/>
          </a:xfrm>
          <a:prstGeom prst="rect">
            <a:avLst/>
          </a:prstGeom>
          <a:noFill/>
          <a:ln/>
        </p:spPr>
        <p:txBody>
          <a:bodyPr wrap="square" lIns="0" tIns="0" rIns="0" bIns="0" rtlCol="0" anchor="t"/>
          <a:lstStyle/>
          <a:p>
            <a:pPr indent="0" marL="0">
              <a:buNone/>
            </a:pPr>
            <a:r>
              <a:rPr lang="en-US" sz="1200" dirty="0">
                <a:solidFill>
                  <a:srgbClr val="C9CEC9"/>
                </a:solidFill>
                <a:latin typeface="Calibri" pitchFamily="34" charset="0"/>
                <a:ea typeface="Calibri" pitchFamily="34" charset="-122"/>
                <a:cs typeface="Calibri" pitchFamily="34" charset="-120"/>
              </a:rPr>
              <a:t>một người vận hành phần mềm và các giáo viên chấm điểm cho CLB có thi tuyển.</a:t>
            </a:r>
            <a:endParaRPr lang="en-US" sz="1200" dirty="0"/>
          </a:p>
        </p:txBody>
      </p:sp>
      <p:sp>
        <p:nvSpPr>
          <p:cNvPr id="16" name="Text 14"/>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600" i="1" dirty="0">
                <a:solidFill>
                  <a:srgbClr val="C9CEC9"/>
                </a:solidFill>
                <a:latin typeface="Cambria" pitchFamily="34" charset="0"/>
                <a:ea typeface="Cambria" pitchFamily="34" charset="-122"/>
                <a:cs typeface="Cambria" pitchFamily="34" charset="-120"/>
              </a:rPr>
              <a:t>Xin cảm ơn Ban Giám hiệu đã lắng nghe.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sắp xếp Câu lạc bộ RB-DA</dc:title>
  <dc:subject>PptxGenJS Presentation</dc:subject>
  <dc:creator>PptxGenJS</dc:creator>
  <cp:lastModifiedBy>PptxGenJS</cp:lastModifiedBy>
  <cp:revision>1</cp:revision>
  <dcterms:created xsi:type="dcterms:W3CDTF">2026-09-24T23:31:11Z</dcterms:created>
  <dcterms:modified xsi:type="dcterms:W3CDTF">2026-09-24T23:31:11Z</dcterms:modified>
</cp:coreProperties>
</file>